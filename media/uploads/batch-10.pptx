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9" r:id="rId7"/>
    <p:sldId id="261" r:id="rId8"/>
    <p:sldId id="268" r:id="rId9"/>
    <p:sldId id="262" r:id="rId10"/>
    <p:sldId id="263" r:id="rId11"/>
    <p:sldId id="265" r:id="rId12"/>
    <p:sldId id="266"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302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196" autoAdjust="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EC1628-96EC-4484-A286-56854118CA98}" type="datetimeFigureOut">
              <a:rPr lang="en-IN" smtClean="0"/>
              <a:t>30-09-2026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B3DB6E-32E1-48FF-8795-534CC16DF1ED}" type="slidenum">
              <a:rPr lang="en-IN" smtClean="0"/>
              <a:t>‹#›</a:t>
            </a:fld>
            <a:endParaRPr lang="en-IN"/>
          </a:p>
        </p:txBody>
      </p:sp>
    </p:spTree>
    <p:extLst>
      <p:ext uri="{BB962C8B-B14F-4D97-AF65-F5344CB8AC3E}">
        <p14:creationId xmlns:p14="http://schemas.microsoft.com/office/powerpoint/2010/main" val="752565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EAB75-E244-48CE-92FD-23A0BFD0ADB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0416160-8A6A-1DC7-D542-838753BE55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04F388A-230F-7103-C694-3F61C13A97D3}"/>
              </a:ext>
            </a:extLst>
          </p:cNvPr>
          <p:cNvSpPr>
            <a:spLocks noGrp="1"/>
          </p:cNvSpPr>
          <p:nvPr>
            <p:ph type="dt" sz="half" idx="10"/>
          </p:nvPr>
        </p:nvSpPr>
        <p:spPr/>
        <p:txBody>
          <a:bodyPr/>
          <a:lstStyle/>
          <a:p>
            <a:fld id="{E964D0DC-3C8D-458B-8BE9-76162BFE1F06}" type="datetime1">
              <a:rPr lang="en-IN" smtClean="0"/>
              <a:t>30-09-2026</a:t>
            </a:fld>
            <a:endParaRPr lang="en-IN"/>
          </a:p>
        </p:txBody>
      </p:sp>
      <p:sp>
        <p:nvSpPr>
          <p:cNvPr id="5" name="Footer Placeholder 4">
            <a:extLst>
              <a:ext uri="{FF2B5EF4-FFF2-40B4-BE49-F238E27FC236}">
                <a16:creationId xmlns:a16="http://schemas.microsoft.com/office/drawing/2014/main" id="{1BE261BB-C722-6877-A8EA-69419FD8E83B}"/>
              </a:ext>
            </a:extLst>
          </p:cNvPr>
          <p:cNvSpPr>
            <a:spLocks noGrp="1"/>
          </p:cNvSpPr>
          <p:nvPr>
            <p:ph type="ftr" sz="quarter" idx="11"/>
          </p:nvPr>
        </p:nvSpPr>
        <p:spPr/>
        <p:txBody>
          <a:bodyPr/>
          <a:lstStyle/>
          <a:p>
            <a:r>
              <a:rPr lang="en-IN"/>
              <a:t>IDEA Day Presentation (2025-26)</a:t>
            </a:r>
          </a:p>
        </p:txBody>
      </p:sp>
      <p:sp>
        <p:nvSpPr>
          <p:cNvPr id="6" name="Slide Number Placeholder 5">
            <a:extLst>
              <a:ext uri="{FF2B5EF4-FFF2-40B4-BE49-F238E27FC236}">
                <a16:creationId xmlns:a16="http://schemas.microsoft.com/office/drawing/2014/main" id="{982834EB-95F5-0D9D-3EE6-923106760640}"/>
              </a:ext>
            </a:extLst>
          </p:cNvPr>
          <p:cNvSpPr>
            <a:spLocks noGrp="1"/>
          </p:cNvSpPr>
          <p:nvPr>
            <p:ph type="sldNum" sz="quarter" idx="12"/>
          </p:nvPr>
        </p:nvSpPr>
        <p:spPr/>
        <p:txBody>
          <a:bodyPr/>
          <a:lstStyle/>
          <a:p>
            <a:fld id="{9C902771-8627-4730-8F5A-2C051D1E05D5}" type="slidenum">
              <a:rPr lang="en-IN" smtClean="0"/>
              <a:t>‹#›</a:t>
            </a:fld>
            <a:endParaRPr lang="en-IN"/>
          </a:p>
        </p:txBody>
      </p:sp>
      <p:grpSp>
        <p:nvGrpSpPr>
          <p:cNvPr id="7" name="Group 6">
            <a:extLst>
              <a:ext uri="{FF2B5EF4-FFF2-40B4-BE49-F238E27FC236}">
                <a16:creationId xmlns:a16="http://schemas.microsoft.com/office/drawing/2014/main" id="{BE32B1AB-0580-095E-465E-EA49CC9CA58E}"/>
              </a:ext>
            </a:extLst>
          </p:cNvPr>
          <p:cNvGrpSpPr/>
          <p:nvPr userDrawn="1"/>
        </p:nvGrpSpPr>
        <p:grpSpPr>
          <a:xfrm>
            <a:off x="9182100" y="244476"/>
            <a:ext cx="2171700" cy="657225"/>
            <a:chOff x="442913" y="364331"/>
            <a:chExt cx="2643187" cy="800100"/>
          </a:xfrm>
        </p:grpSpPr>
        <p:pic>
          <p:nvPicPr>
            <p:cNvPr id="8" name="Picture 7">
              <a:extLst>
                <a:ext uri="{FF2B5EF4-FFF2-40B4-BE49-F238E27FC236}">
                  <a16:creationId xmlns:a16="http://schemas.microsoft.com/office/drawing/2014/main" id="{CE395D95-5469-6F11-0CDD-C1026F53083D}"/>
                </a:ext>
              </a:extLst>
            </p:cNvPr>
            <p:cNvPicPr>
              <a:picLocks noChangeAspect="1"/>
            </p:cNvPicPr>
            <p:nvPr/>
          </p:nvPicPr>
          <p:blipFill>
            <a:blip r:embed="rId2"/>
            <a:stretch>
              <a:fillRect/>
            </a:stretch>
          </p:blipFill>
          <p:spPr>
            <a:xfrm>
              <a:off x="1779146" y="498621"/>
              <a:ext cx="1166308" cy="504565"/>
            </a:xfrm>
            <a:prstGeom prst="rect">
              <a:avLst/>
            </a:prstGeom>
          </p:spPr>
        </p:pic>
        <p:pic>
          <p:nvPicPr>
            <p:cNvPr id="9" name="Picture 8">
              <a:extLst>
                <a:ext uri="{FF2B5EF4-FFF2-40B4-BE49-F238E27FC236}">
                  <a16:creationId xmlns:a16="http://schemas.microsoft.com/office/drawing/2014/main" id="{78F1C730-3273-30EF-4DA5-7F3709001C7B}"/>
                </a:ext>
              </a:extLst>
            </p:cNvPr>
            <p:cNvPicPr>
              <a:picLocks noChangeAspect="1"/>
            </p:cNvPicPr>
            <p:nvPr/>
          </p:nvPicPr>
          <p:blipFill>
            <a:blip r:embed="rId3"/>
            <a:stretch>
              <a:fillRect/>
            </a:stretch>
          </p:blipFill>
          <p:spPr>
            <a:xfrm>
              <a:off x="442913" y="410973"/>
              <a:ext cx="1335881" cy="706815"/>
            </a:xfrm>
            <a:prstGeom prst="rect">
              <a:avLst/>
            </a:prstGeom>
          </p:spPr>
        </p:pic>
        <p:sp>
          <p:nvSpPr>
            <p:cNvPr id="10" name="Rectangle: Rounded Corners 9">
              <a:extLst>
                <a:ext uri="{FF2B5EF4-FFF2-40B4-BE49-F238E27FC236}">
                  <a16:creationId xmlns:a16="http://schemas.microsoft.com/office/drawing/2014/main" id="{BE7F524B-780E-6543-DF28-5751AA99CB5F}"/>
                </a:ext>
              </a:extLst>
            </p:cNvPr>
            <p:cNvSpPr/>
            <p:nvPr/>
          </p:nvSpPr>
          <p:spPr>
            <a:xfrm>
              <a:off x="442913" y="364331"/>
              <a:ext cx="2643187" cy="800100"/>
            </a:xfrm>
            <a:prstGeom prst="roundRect">
              <a:avLst/>
            </a:prstGeom>
            <a:noFill/>
            <a:ln w="12700">
              <a:solidFill>
                <a:srgbClr val="D72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9" name="Group 18">
            <a:extLst>
              <a:ext uri="{FF2B5EF4-FFF2-40B4-BE49-F238E27FC236}">
                <a16:creationId xmlns:a16="http://schemas.microsoft.com/office/drawing/2014/main" id="{4AF63A3C-6216-843D-EA0D-2A41185D9A1F}"/>
              </a:ext>
            </a:extLst>
          </p:cNvPr>
          <p:cNvGrpSpPr/>
          <p:nvPr userDrawn="1"/>
        </p:nvGrpSpPr>
        <p:grpSpPr>
          <a:xfrm>
            <a:off x="452761" y="284660"/>
            <a:ext cx="5828146" cy="5307378"/>
            <a:chOff x="452761" y="284660"/>
            <a:chExt cx="5828146" cy="5307378"/>
          </a:xfrm>
        </p:grpSpPr>
        <p:grpSp>
          <p:nvGrpSpPr>
            <p:cNvPr id="15" name="Group 14">
              <a:extLst>
                <a:ext uri="{FF2B5EF4-FFF2-40B4-BE49-F238E27FC236}">
                  <a16:creationId xmlns:a16="http://schemas.microsoft.com/office/drawing/2014/main" id="{7B710C22-3DEC-ECD0-3D8A-E2C9F0632C5D}"/>
                </a:ext>
              </a:extLst>
            </p:cNvPr>
            <p:cNvGrpSpPr/>
            <p:nvPr userDrawn="1"/>
          </p:nvGrpSpPr>
          <p:grpSpPr>
            <a:xfrm>
              <a:off x="452761" y="441931"/>
              <a:ext cx="5828146" cy="186905"/>
              <a:chOff x="452761" y="441931"/>
              <a:chExt cx="5828146" cy="186905"/>
            </a:xfrm>
          </p:grpSpPr>
          <p:cxnSp>
            <p:nvCxnSpPr>
              <p:cNvPr id="12" name="Straight Connector 11">
                <a:extLst>
                  <a:ext uri="{FF2B5EF4-FFF2-40B4-BE49-F238E27FC236}">
                    <a16:creationId xmlns:a16="http://schemas.microsoft.com/office/drawing/2014/main" id="{C79E147E-E9C7-8B8D-C150-B339A7274D35}"/>
                  </a:ext>
                </a:extLst>
              </p:cNvPr>
              <p:cNvCxnSpPr>
                <a:cxnSpLocks/>
              </p:cNvCxnSpPr>
              <p:nvPr userDrawn="1"/>
            </p:nvCxnSpPr>
            <p:spPr>
              <a:xfrm>
                <a:off x="452761" y="535384"/>
                <a:ext cx="529109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8F0CD325-082D-245A-D8C7-D430DF0AEED4}"/>
                  </a:ext>
                </a:extLst>
              </p:cNvPr>
              <p:cNvSpPr/>
              <p:nvPr userDrawn="1"/>
            </p:nvSpPr>
            <p:spPr>
              <a:xfrm>
                <a:off x="5702771" y="441931"/>
                <a:ext cx="578136" cy="186905"/>
              </a:xfrm>
              <a:prstGeom prst="roundRect">
                <a:avLst>
                  <a:gd name="adj" fmla="val 50000"/>
                </a:avLst>
              </a:prstGeom>
              <a:solidFill>
                <a:srgbClr val="D43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6" name="Group 15">
              <a:extLst>
                <a:ext uri="{FF2B5EF4-FFF2-40B4-BE49-F238E27FC236}">
                  <a16:creationId xmlns:a16="http://schemas.microsoft.com/office/drawing/2014/main" id="{3E288457-5D2A-A3BC-EA22-D5658EAE5371}"/>
                </a:ext>
              </a:extLst>
            </p:cNvPr>
            <p:cNvGrpSpPr/>
            <p:nvPr userDrawn="1"/>
          </p:nvGrpSpPr>
          <p:grpSpPr>
            <a:xfrm rot="5400000">
              <a:off x="-1981624" y="2844896"/>
              <a:ext cx="5307378" cy="186905"/>
              <a:chOff x="452761" y="441931"/>
              <a:chExt cx="5828146" cy="186905"/>
            </a:xfrm>
          </p:grpSpPr>
          <p:cxnSp>
            <p:nvCxnSpPr>
              <p:cNvPr id="17" name="Straight Connector 16">
                <a:extLst>
                  <a:ext uri="{FF2B5EF4-FFF2-40B4-BE49-F238E27FC236}">
                    <a16:creationId xmlns:a16="http://schemas.microsoft.com/office/drawing/2014/main" id="{E93B2D03-5646-9A13-B6CC-EA2E08716EA3}"/>
                  </a:ext>
                </a:extLst>
              </p:cNvPr>
              <p:cNvCxnSpPr>
                <a:cxnSpLocks/>
              </p:cNvCxnSpPr>
              <p:nvPr userDrawn="1"/>
            </p:nvCxnSpPr>
            <p:spPr>
              <a:xfrm>
                <a:off x="452761" y="535384"/>
                <a:ext cx="529109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C58303AB-4D2A-D135-9BA5-2226A1E2F0A7}"/>
                  </a:ext>
                </a:extLst>
              </p:cNvPr>
              <p:cNvSpPr/>
              <p:nvPr userDrawn="1"/>
            </p:nvSpPr>
            <p:spPr>
              <a:xfrm>
                <a:off x="5702771" y="441931"/>
                <a:ext cx="578136" cy="186905"/>
              </a:xfrm>
              <a:prstGeom prst="roundRect">
                <a:avLst>
                  <a:gd name="adj" fmla="val 50000"/>
                </a:avLst>
              </a:prstGeom>
              <a:solidFill>
                <a:srgbClr val="D43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spTree>
    <p:extLst>
      <p:ext uri="{BB962C8B-B14F-4D97-AF65-F5344CB8AC3E}">
        <p14:creationId xmlns:p14="http://schemas.microsoft.com/office/powerpoint/2010/main" val="893605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5817B-1891-A5CF-0DC4-EA077621627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FDDB1BE-D8F2-CE4A-52CB-5BA8B74BAA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9EB343-66DF-FC2F-6482-9C7EEA719346}"/>
              </a:ext>
            </a:extLst>
          </p:cNvPr>
          <p:cNvSpPr>
            <a:spLocks noGrp="1"/>
          </p:cNvSpPr>
          <p:nvPr>
            <p:ph type="dt" sz="half" idx="10"/>
          </p:nvPr>
        </p:nvSpPr>
        <p:spPr/>
        <p:txBody>
          <a:bodyPr/>
          <a:lstStyle/>
          <a:p>
            <a:fld id="{20914C00-0331-466C-AC7A-95E2FBBCFEEC}" type="datetime1">
              <a:rPr lang="en-IN" smtClean="0"/>
              <a:t>30-09-2026</a:t>
            </a:fld>
            <a:endParaRPr lang="en-IN"/>
          </a:p>
        </p:txBody>
      </p:sp>
      <p:sp>
        <p:nvSpPr>
          <p:cNvPr id="5" name="Footer Placeholder 4">
            <a:extLst>
              <a:ext uri="{FF2B5EF4-FFF2-40B4-BE49-F238E27FC236}">
                <a16:creationId xmlns:a16="http://schemas.microsoft.com/office/drawing/2014/main" id="{C6E1155B-ACB8-6698-F113-22FF561800E2}"/>
              </a:ext>
            </a:extLst>
          </p:cNvPr>
          <p:cNvSpPr>
            <a:spLocks noGrp="1"/>
          </p:cNvSpPr>
          <p:nvPr>
            <p:ph type="ftr" sz="quarter" idx="11"/>
          </p:nvPr>
        </p:nvSpPr>
        <p:spPr/>
        <p:txBody>
          <a:bodyPr/>
          <a:lstStyle/>
          <a:p>
            <a:r>
              <a:rPr lang="en-IN"/>
              <a:t>IDEA Day Presentation (2025-26)</a:t>
            </a:r>
          </a:p>
        </p:txBody>
      </p:sp>
      <p:sp>
        <p:nvSpPr>
          <p:cNvPr id="6" name="Slide Number Placeholder 5">
            <a:extLst>
              <a:ext uri="{FF2B5EF4-FFF2-40B4-BE49-F238E27FC236}">
                <a16:creationId xmlns:a16="http://schemas.microsoft.com/office/drawing/2014/main" id="{DC8C64EF-F7B6-A2CE-D0A4-9F747C8BB3DA}"/>
              </a:ext>
            </a:extLst>
          </p:cNvPr>
          <p:cNvSpPr>
            <a:spLocks noGrp="1"/>
          </p:cNvSpPr>
          <p:nvPr>
            <p:ph type="sldNum" sz="quarter" idx="12"/>
          </p:nvPr>
        </p:nvSpPr>
        <p:spPr/>
        <p:txBody>
          <a:bodyPr/>
          <a:lstStyle/>
          <a:p>
            <a:fld id="{9C902771-8627-4730-8F5A-2C051D1E05D5}" type="slidenum">
              <a:rPr lang="en-IN" smtClean="0"/>
              <a:t>‹#›</a:t>
            </a:fld>
            <a:endParaRPr lang="en-IN"/>
          </a:p>
        </p:txBody>
      </p:sp>
      <p:grpSp>
        <p:nvGrpSpPr>
          <p:cNvPr id="7" name="Group 6">
            <a:extLst>
              <a:ext uri="{FF2B5EF4-FFF2-40B4-BE49-F238E27FC236}">
                <a16:creationId xmlns:a16="http://schemas.microsoft.com/office/drawing/2014/main" id="{24868907-82D1-0058-7CD0-EA922F889DA8}"/>
              </a:ext>
            </a:extLst>
          </p:cNvPr>
          <p:cNvGrpSpPr/>
          <p:nvPr userDrawn="1"/>
        </p:nvGrpSpPr>
        <p:grpSpPr>
          <a:xfrm>
            <a:off x="9182099" y="244476"/>
            <a:ext cx="2743195" cy="876112"/>
            <a:chOff x="442913" y="364331"/>
            <a:chExt cx="2643187" cy="800100"/>
          </a:xfrm>
        </p:grpSpPr>
        <p:pic>
          <p:nvPicPr>
            <p:cNvPr id="8" name="Picture 7">
              <a:extLst>
                <a:ext uri="{FF2B5EF4-FFF2-40B4-BE49-F238E27FC236}">
                  <a16:creationId xmlns:a16="http://schemas.microsoft.com/office/drawing/2014/main" id="{322DBD92-48EE-5A36-2C3A-1C370C537780}"/>
                </a:ext>
              </a:extLst>
            </p:cNvPr>
            <p:cNvPicPr>
              <a:picLocks noChangeAspect="1"/>
            </p:cNvPicPr>
            <p:nvPr/>
          </p:nvPicPr>
          <p:blipFill>
            <a:blip r:embed="rId2"/>
            <a:stretch>
              <a:fillRect/>
            </a:stretch>
          </p:blipFill>
          <p:spPr>
            <a:xfrm>
              <a:off x="1779146" y="498621"/>
              <a:ext cx="1166308" cy="504565"/>
            </a:xfrm>
            <a:prstGeom prst="rect">
              <a:avLst/>
            </a:prstGeom>
          </p:spPr>
        </p:pic>
        <p:pic>
          <p:nvPicPr>
            <p:cNvPr id="9" name="Picture 8">
              <a:extLst>
                <a:ext uri="{FF2B5EF4-FFF2-40B4-BE49-F238E27FC236}">
                  <a16:creationId xmlns:a16="http://schemas.microsoft.com/office/drawing/2014/main" id="{67AA7F1F-8010-42C9-04BA-14768CE8B606}"/>
                </a:ext>
              </a:extLst>
            </p:cNvPr>
            <p:cNvPicPr>
              <a:picLocks noChangeAspect="1"/>
            </p:cNvPicPr>
            <p:nvPr/>
          </p:nvPicPr>
          <p:blipFill>
            <a:blip r:embed="rId3"/>
            <a:stretch>
              <a:fillRect/>
            </a:stretch>
          </p:blipFill>
          <p:spPr>
            <a:xfrm>
              <a:off x="442913" y="410973"/>
              <a:ext cx="1335881" cy="706815"/>
            </a:xfrm>
            <a:prstGeom prst="rect">
              <a:avLst/>
            </a:prstGeom>
          </p:spPr>
        </p:pic>
        <p:sp>
          <p:nvSpPr>
            <p:cNvPr id="10" name="Rectangle: Rounded Corners 9">
              <a:extLst>
                <a:ext uri="{FF2B5EF4-FFF2-40B4-BE49-F238E27FC236}">
                  <a16:creationId xmlns:a16="http://schemas.microsoft.com/office/drawing/2014/main" id="{E3E169F1-E054-781F-2F62-8E817365BDED}"/>
                </a:ext>
              </a:extLst>
            </p:cNvPr>
            <p:cNvSpPr/>
            <p:nvPr/>
          </p:nvSpPr>
          <p:spPr>
            <a:xfrm>
              <a:off x="442913" y="364331"/>
              <a:ext cx="2643187" cy="800100"/>
            </a:xfrm>
            <a:prstGeom prst="roundRect">
              <a:avLst/>
            </a:prstGeom>
            <a:noFill/>
            <a:ln w="12700">
              <a:solidFill>
                <a:srgbClr val="D72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2" name="Group 11">
            <a:extLst>
              <a:ext uri="{FF2B5EF4-FFF2-40B4-BE49-F238E27FC236}">
                <a16:creationId xmlns:a16="http://schemas.microsoft.com/office/drawing/2014/main" id="{2FC40007-03D6-AEC4-6BDA-13F4A5A8D284}"/>
              </a:ext>
            </a:extLst>
          </p:cNvPr>
          <p:cNvGrpSpPr/>
          <p:nvPr userDrawn="1"/>
        </p:nvGrpSpPr>
        <p:grpSpPr>
          <a:xfrm>
            <a:off x="452761" y="441931"/>
            <a:ext cx="5828146" cy="186905"/>
            <a:chOff x="452761" y="441931"/>
            <a:chExt cx="5828146" cy="186905"/>
          </a:xfrm>
        </p:grpSpPr>
        <p:cxnSp>
          <p:nvCxnSpPr>
            <p:cNvPr id="16" name="Straight Connector 15">
              <a:extLst>
                <a:ext uri="{FF2B5EF4-FFF2-40B4-BE49-F238E27FC236}">
                  <a16:creationId xmlns:a16="http://schemas.microsoft.com/office/drawing/2014/main" id="{770B8420-4E9D-38C0-F0E9-88C9750F4E59}"/>
                </a:ext>
              </a:extLst>
            </p:cNvPr>
            <p:cNvCxnSpPr>
              <a:cxnSpLocks/>
            </p:cNvCxnSpPr>
            <p:nvPr userDrawn="1"/>
          </p:nvCxnSpPr>
          <p:spPr>
            <a:xfrm>
              <a:off x="452761" y="535384"/>
              <a:ext cx="529109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843B0E25-CAFA-1A2B-63BA-2511705A17B8}"/>
                </a:ext>
              </a:extLst>
            </p:cNvPr>
            <p:cNvSpPr/>
            <p:nvPr userDrawn="1"/>
          </p:nvSpPr>
          <p:spPr>
            <a:xfrm>
              <a:off x="5702771" y="441931"/>
              <a:ext cx="578136" cy="186905"/>
            </a:xfrm>
            <a:prstGeom prst="roundRect">
              <a:avLst>
                <a:gd name="adj" fmla="val 50000"/>
              </a:avLst>
            </a:prstGeom>
            <a:solidFill>
              <a:srgbClr val="D43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14" name="Straight Connector 13">
            <a:extLst>
              <a:ext uri="{FF2B5EF4-FFF2-40B4-BE49-F238E27FC236}">
                <a16:creationId xmlns:a16="http://schemas.microsoft.com/office/drawing/2014/main" id="{B40EA141-24C1-0112-261F-7DF022A722F9}"/>
              </a:ext>
            </a:extLst>
          </p:cNvPr>
          <p:cNvCxnSpPr>
            <a:cxnSpLocks/>
          </p:cNvCxnSpPr>
          <p:nvPr userDrawn="1"/>
        </p:nvCxnSpPr>
        <p:spPr>
          <a:xfrm rot="5400000">
            <a:off x="-1737091" y="2693815"/>
            <a:ext cx="481831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5" name="Rectangle: Rounded Corners 14">
            <a:extLst>
              <a:ext uri="{FF2B5EF4-FFF2-40B4-BE49-F238E27FC236}">
                <a16:creationId xmlns:a16="http://schemas.microsoft.com/office/drawing/2014/main" id="{02316614-44EE-C183-5D6A-49DD30995500}"/>
              </a:ext>
            </a:extLst>
          </p:cNvPr>
          <p:cNvSpPr/>
          <p:nvPr userDrawn="1"/>
        </p:nvSpPr>
        <p:spPr>
          <a:xfrm rot="5400000">
            <a:off x="408826" y="5235346"/>
            <a:ext cx="526477" cy="186905"/>
          </a:xfrm>
          <a:prstGeom prst="roundRect">
            <a:avLst>
              <a:gd name="adj" fmla="val 50000"/>
            </a:avLst>
          </a:prstGeom>
          <a:solidFill>
            <a:srgbClr val="D43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985037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51795-6438-7FD1-4311-96E61976DDD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C96264A-E493-3D4B-8258-CC25EF272F9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4076B60-7CE5-D2E9-4057-572D010F3B8D}"/>
              </a:ext>
            </a:extLst>
          </p:cNvPr>
          <p:cNvSpPr>
            <a:spLocks noGrp="1"/>
          </p:cNvSpPr>
          <p:nvPr>
            <p:ph type="dt" sz="half" idx="10"/>
          </p:nvPr>
        </p:nvSpPr>
        <p:spPr/>
        <p:txBody>
          <a:bodyPr/>
          <a:lstStyle/>
          <a:p>
            <a:fld id="{919EBEA7-D294-43C8-84CB-3E2E1395D194}" type="datetime1">
              <a:rPr lang="en-IN" smtClean="0"/>
              <a:t>30-09-2026</a:t>
            </a:fld>
            <a:endParaRPr lang="en-IN"/>
          </a:p>
        </p:txBody>
      </p:sp>
      <p:sp>
        <p:nvSpPr>
          <p:cNvPr id="5" name="Footer Placeholder 4">
            <a:extLst>
              <a:ext uri="{FF2B5EF4-FFF2-40B4-BE49-F238E27FC236}">
                <a16:creationId xmlns:a16="http://schemas.microsoft.com/office/drawing/2014/main" id="{7B28BAEE-80FA-8F94-E9D4-7FCDD6B7725B}"/>
              </a:ext>
            </a:extLst>
          </p:cNvPr>
          <p:cNvSpPr>
            <a:spLocks noGrp="1"/>
          </p:cNvSpPr>
          <p:nvPr>
            <p:ph type="ftr" sz="quarter" idx="11"/>
          </p:nvPr>
        </p:nvSpPr>
        <p:spPr/>
        <p:txBody>
          <a:bodyPr/>
          <a:lstStyle/>
          <a:p>
            <a:r>
              <a:rPr lang="en-IN"/>
              <a:t>IDEA Day Presentation (2025-26)</a:t>
            </a:r>
          </a:p>
        </p:txBody>
      </p:sp>
      <p:sp>
        <p:nvSpPr>
          <p:cNvPr id="6" name="Slide Number Placeholder 5">
            <a:extLst>
              <a:ext uri="{FF2B5EF4-FFF2-40B4-BE49-F238E27FC236}">
                <a16:creationId xmlns:a16="http://schemas.microsoft.com/office/drawing/2014/main" id="{6B81A8F5-DBAD-D42B-6895-FFCCF3B5739E}"/>
              </a:ext>
            </a:extLst>
          </p:cNvPr>
          <p:cNvSpPr>
            <a:spLocks noGrp="1"/>
          </p:cNvSpPr>
          <p:nvPr>
            <p:ph type="sldNum" sz="quarter" idx="12"/>
          </p:nvPr>
        </p:nvSpPr>
        <p:spPr/>
        <p:txBody>
          <a:bodyPr/>
          <a:lstStyle/>
          <a:p>
            <a:fld id="{9C902771-8627-4730-8F5A-2C051D1E05D5}" type="slidenum">
              <a:rPr lang="en-IN" smtClean="0"/>
              <a:t>‹#›</a:t>
            </a:fld>
            <a:endParaRPr lang="en-IN"/>
          </a:p>
        </p:txBody>
      </p:sp>
      <p:grpSp>
        <p:nvGrpSpPr>
          <p:cNvPr id="11" name="Group 10">
            <a:extLst>
              <a:ext uri="{FF2B5EF4-FFF2-40B4-BE49-F238E27FC236}">
                <a16:creationId xmlns:a16="http://schemas.microsoft.com/office/drawing/2014/main" id="{ADDAA9F8-4F2A-A7C2-C3E0-870F0B27D639}"/>
              </a:ext>
            </a:extLst>
          </p:cNvPr>
          <p:cNvGrpSpPr/>
          <p:nvPr userDrawn="1"/>
        </p:nvGrpSpPr>
        <p:grpSpPr>
          <a:xfrm>
            <a:off x="452761" y="284660"/>
            <a:ext cx="5828146" cy="5307378"/>
            <a:chOff x="452761" y="284660"/>
            <a:chExt cx="5828146" cy="5307378"/>
          </a:xfrm>
        </p:grpSpPr>
        <p:grpSp>
          <p:nvGrpSpPr>
            <p:cNvPr id="12" name="Group 11">
              <a:extLst>
                <a:ext uri="{FF2B5EF4-FFF2-40B4-BE49-F238E27FC236}">
                  <a16:creationId xmlns:a16="http://schemas.microsoft.com/office/drawing/2014/main" id="{6BA2F597-F8F9-989C-4968-8B4281B9F8A3}"/>
                </a:ext>
              </a:extLst>
            </p:cNvPr>
            <p:cNvGrpSpPr/>
            <p:nvPr userDrawn="1"/>
          </p:nvGrpSpPr>
          <p:grpSpPr>
            <a:xfrm>
              <a:off x="452761" y="441931"/>
              <a:ext cx="5828146" cy="186905"/>
              <a:chOff x="452761" y="441931"/>
              <a:chExt cx="5828146" cy="186905"/>
            </a:xfrm>
          </p:grpSpPr>
          <p:cxnSp>
            <p:nvCxnSpPr>
              <p:cNvPr id="16" name="Straight Connector 15">
                <a:extLst>
                  <a:ext uri="{FF2B5EF4-FFF2-40B4-BE49-F238E27FC236}">
                    <a16:creationId xmlns:a16="http://schemas.microsoft.com/office/drawing/2014/main" id="{6FBBE44C-249D-6AF0-AE36-786F0CA977C9}"/>
                  </a:ext>
                </a:extLst>
              </p:cNvPr>
              <p:cNvCxnSpPr>
                <a:cxnSpLocks/>
              </p:cNvCxnSpPr>
              <p:nvPr userDrawn="1"/>
            </p:nvCxnSpPr>
            <p:spPr>
              <a:xfrm>
                <a:off x="452761" y="535384"/>
                <a:ext cx="529109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C9F2B0C2-DDF7-5D85-D2DA-05F7B2A4583A}"/>
                  </a:ext>
                </a:extLst>
              </p:cNvPr>
              <p:cNvSpPr/>
              <p:nvPr userDrawn="1"/>
            </p:nvSpPr>
            <p:spPr>
              <a:xfrm>
                <a:off x="5702771" y="441931"/>
                <a:ext cx="578136" cy="186905"/>
              </a:xfrm>
              <a:prstGeom prst="roundRect">
                <a:avLst>
                  <a:gd name="adj" fmla="val 50000"/>
                </a:avLst>
              </a:prstGeom>
              <a:solidFill>
                <a:srgbClr val="D43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3" name="Group 12">
              <a:extLst>
                <a:ext uri="{FF2B5EF4-FFF2-40B4-BE49-F238E27FC236}">
                  <a16:creationId xmlns:a16="http://schemas.microsoft.com/office/drawing/2014/main" id="{575C5364-868D-04CE-1FDE-7736B07DD391}"/>
                </a:ext>
              </a:extLst>
            </p:cNvPr>
            <p:cNvGrpSpPr/>
            <p:nvPr userDrawn="1"/>
          </p:nvGrpSpPr>
          <p:grpSpPr>
            <a:xfrm rot="5400000">
              <a:off x="-1981624" y="2844896"/>
              <a:ext cx="5307378" cy="186905"/>
              <a:chOff x="452761" y="441931"/>
              <a:chExt cx="5828146" cy="186905"/>
            </a:xfrm>
          </p:grpSpPr>
          <p:cxnSp>
            <p:nvCxnSpPr>
              <p:cNvPr id="14" name="Straight Connector 13">
                <a:extLst>
                  <a:ext uri="{FF2B5EF4-FFF2-40B4-BE49-F238E27FC236}">
                    <a16:creationId xmlns:a16="http://schemas.microsoft.com/office/drawing/2014/main" id="{84AE8B55-B399-6202-DBCF-D7A1379CBD57}"/>
                  </a:ext>
                </a:extLst>
              </p:cNvPr>
              <p:cNvCxnSpPr>
                <a:cxnSpLocks/>
              </p:cNvCxnSpPr>
              <p:nvPr userDrawn="1"/>
            </p:nvCxnSpPr>
            <p:spPr>
              <a:xfrm>
                <a:off x="452761" y="535384"/>
                <a:ext cx="529109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5" name="Rectangle: Rounded Corners 14">
                <a:extLst>
                  <a:ext uri="{FF2B5EF4-FFF2-40B4-BE49-F238E27FC236}">
                    <a16:creationId xmlns:a16="http://schemas.microsoft.com/office/drawing/2014/main" id="{8447B544-9494-D6DA-B47C-25F24544E029}"/>
                  </a:ext>
                </a:extLst>
              </p:cNvPr>
              <p:cNvSpPr/>
              <p:nvPr userDrawn="1"/>
            </p:nvSpPr>
            <p:spPr>
              <a:xfrm>
                <a:off x="5702771" y="441931"/>
                <a:ext cx="578136" cy="186905"/>
              </a:xfrm>
              <a:prstGeom prst="roundRect">
                <a:avLst>
                  <a:gd name="adj" fmla="val 50000"/>
                </a:avLst>
              </a:prstGeom>
              <a:solidFill>
                <a:srgbClr val="D43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grpSp>
        <p:nvGrpSpPr>
          <p:cNvPr id="18" name="Group 17">
            <a:extLst>
              <a:ext uri="{FF2B5EF4-FFF2-40B4-BE49-F238E27FC236}">
                <a16:creationId xmlns:a16="http://schemas.microsoft.com/office/drawing/2014/main" id="{0DFB4870-6348-0734-A33D-819FB1CDF07A}"/>
              </a:ext>
            </a:extLst>
          </p:cNvPr>
          <p:cNvGrpSpPr/>
          <p:nvPr userDrawn="1"/>
        </p:nvGrpSpPr>
        <p:grpSpPr>
          <a:xfrm>
            <a:off x="9182099" y="244476"/>
            <a:ext cx="2743195" cy="876112"/>
            <a:chOff x="442913" y="364331"/>
            <a:chExt cx="2643187" cy="800100"/>
          </a:xfrm>
        </p:grpSpPr>
        <p:pic>
          <p:nvPicPr>
            <p:cNvPr id="19" name="Picture 18">
              <a:extLst>
                <a:ext uri="{FF2B5EF4-FFF2-40B4-BE49-F238E27FC236}">
                  <a16:creationId xmlns:a16="http://schemas.microsoft.com/office/drawing/2014/main" id="{412196BA-BEE5-AA3F-1F82-79411DF63A61}"/>
                </a:ext>
              </a:extLst>
            </p:cNvPr>
            <p:cNvPicPr>
              <a:picLocks noChangeAspect="1"/>
            </p:cNvPicPr>
            <p:nvPr/>
          </p:nvPicPr>
          <p:blipFill>
            <a:blip r:embed="rId2"/>
            <a:stretch>
              <a:fillRect/>
            </a:stretch>
          </p:blipFill>
          <p:spPr>
            <a:xfrm>
              <a:off x="1779146" y="498621"/>
              <a:ext cx="1166308" cy="504565"/>
            </a:xfrm>
            <a:prstGeom prst="rect">
              <a:avLst/>
            </a:prstGeom>
          </p:spPr>
        </p:pic>
        <p:pic>
          <p:nvPicPr>
            <p:cNvPr id="20" name="Picture 19">
              <a:extLst>
                <a:ext uri="{FF2B5EF4-FFF2-40B4-BE49-F238E27FC236}">
                  <a16:creationId xmlns:a16="http://schemas.microsoft.com/office/drawing/2014/main" id="{E7BB2A8E-FBD1-96E7-E506-B78C8285743C}"/>
                </a:ext>
              </a:extLst>
            </p:cNvPr>
            <p:cNvPicPr>
              <a:picLocks noChangeAspect="1"/>
            </p:cNvPicPr>
            <p:nvPr/>
          </p:nvPicPr>
          <p:blipFill>
            <a:blip r:embed="rId3"/>
            <a:stretch>
              <a:fillRect/>
            </a:stretch>
          </p:blipFill>
          <p:spPr>
            <a:xfrm>
              <a:off x="442913" y="410973"/>
              <a:ext cx="1335881" cy="706815"/>
            </a:xfrm>
            <a:prstGeom prst="rect">
              <a:avLst/>
            </a:prstGeom>
          </p:spPr>
        </p:pic>
        <p:sp>
          <p:nvSpPr>
            <p:cNvPr id="21" name="Rectangle: Rounded Corners 20">
              <a:extLst>
                <a:ext uri="{FF2B5EF4-FFF2-40B4-BE49-F238E27FC236}">
                  <a16:creationId xmlns:a16="http://schemas.microsoft.com/office/drawing/2014/main" id="{865A6393-BB84-E7D0-2007-CF8A0ED76445}"/>
                </a:ext>
              </a:extLst>
            </p:cNvPr>
            <p:cNvSpPr/>
            <p:nvPr/>
          </p:nvSpPr>
          <p:spPr>
            <a:xfrm>
              <a:off x="442913" y="364331"/>
              <a:ext cx="2643187" cy="800100"/>
            </a:xfrm>
            <a:prstGeom prst="roundRect">
              <a:avLst/>
            </a:prstGeom>
            <a:noFill/>
            <a:ln w="12700">
              <a:solidFill>
                <a:srgbClr val="D72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3888318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B16DB-706B-072A-56D7-4E0246881BD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F2B6D3F-C022-D914-09FB-D5F8C8D9A0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EA32896-B55F-6CF2-3C13-F347EEEE1E9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040E332-0067-C1C9-EB19-145C2E1BB873}"/>
              </a:ext>
            </a:extLst>
          </p:cNvPr>
          <p:cNvSpPr>
            <a:spLocks noGrp="1"/>
          </p:cNvSpPr>
          <p:nvPr>
            <p:ph type="dt" sz="half" idx="10"/>
          </p:nvPr>
        </p:nvSpPr>
        <p:spPr/>
        <p:txBody>
          <a:bodyPr/>
          <a:lstStyle/>
          <a:p>
            <a:fld id="{D8513D0D-AC8D-41F1-BD06-2B5BC3D60F3F}" type="datetime1">
              <a:rPr lang="en-IN" smtClean="0"/>
              <a:t>30-09-2026</a:t>
            </a:fld>
            <a:endParaRPr lang="en-IN"/>
          </a:p>
        </p:txBody>
      </p:sp>
      <p:sp>
        <p:nvSpPr>
          <p:cNvPr id="6" name="Footer Placeholder 5">
            <a:extLst>
              <a:ext uri="{FF2B5EF4-FFF2-40B4-BE49-F238E27FC236}">
                <a16:creationId xmlns:a16="http://schemas.microsoft.com/office/drawing/2014/main" id="{640266D9-CB16-BE25-9276-6BF702583345}"/>
              </a:ext>
            </a:extLst>
          </p:cNvPr>
          <p:cNvSpPr>
            <a:spLocks noGrp="1"/>
          </p:cNvSpPr>
          <p:nvPr>
            <p:ph type="ftr" sz="quarter" idx="11"/>
          </p:nvPr>
        </p:nvSpPr>
        <p:spPr/>
        <p:txBody>
          <a:bodyPr/>
          <a:lstStyle/>
          <a:p>
            <a:r>
              <a:rPr lang="en-IN"/>
              <a:t>IDEA Day Presentation (2025-26)</a:t>
            </a:r>
          </a:p>
        </p:txBody>
      </p:sp>
      <p:sp>
        <p:nvSpPr>
          <p:cNvPr id="7" name="Slide Number Placeholder 6">
            <a:extLst>
              <a:ext uri="{FF2B5EF4-FFF2-40B4-BE49-F238E27FC236}">
                <a16:creationId xmlns:a16="http://schemas.microsoft.com/office/drawing/2014/main" id="{61C9A617-0F93-1004-CB3C-BA99369F3244}"/>
              </a:ext>
            </a:extLst>
          </p:cNvPr>
          <p:cNvSpPr>
            <a:spLocks noGrp="1"/>
          </p:cNvSpPr>
          <p:nvPr>
            <p:ph type="sldNum" sz="quarter" idx="12"/>
          </p:nvPr>
        </p:nvSpPr>
        <p:spPr/>
        <p:txBody>
          <a:bodyPr/>
          <a:lstStyle/>
          <a:p>
            <a:fld id="{9C902771-8627-4730-8F5A-2C051D1E05D5}" type="slidenum">
              <a:rPr lang="en-IN" smtClean="0"/>
              <a:t>‹#›</a:t>
            </a:fld>
            <a:endParaRPr lang="en-IN"/>
          </a:p>
        </p:txBody>
      </p:sp>
      <p:grpSp>
        <p:nvGrpSpPr>
          <p:cNvPr id="8" name="Group 7">
            <a:extLst>
              <a:ext uri="{FF2B5EF4-FFF2-40B4-BE49-F238E27FC236}">
                <a16:creationId xmlns:a16="http://schemas.microsoft.com/office/drawing/2014/main" id="{BB287CD5-8E0C-692A-12A5-FAEC37888B61}"/>
              </a:ext>
            </a:extLst>
          </p:cNvPr>
          <p:cNvGrpSpPr/>
          <p:nvPr userDrawn="1"/>
        </p:nvGrpSpPr>
        <p:grpSpPr>
          <a:xfrm>
            <a:off x="9182100" y="244476"/>
            <a:ext cx="2171700" cy="657225"/>
            <a:chOff x="442913" y="364331"/>
            <a:chExt cx="2643187" cy="800100"/>
          </a:xfrm>
        </p:grpSpPr>
        <p:pic>
          <p:nvPicPr>
            <p:cNvPr id="9" name="Picture 8">
              <a:extLst>
                <a:ext uri="{FF2B5EF4-FFF2-40B4-BE49-F238E27FC236}">
                  <a16:creationId xmlns:a16="http://schemas.microsoft.com/office/drawing/2014/main" id="{0D2DB953-1274-ED4B-A729-94AD820CB70B}"/>
                </a:ext>
              </a:extLst>
            </p:cNvPr>
            <p:cNvPicPr>
              <a:picLocks noChangeAspect="1"/>
            </p:cNvPicPr>
            <p:nvPr/>
          </p:nvPicPr>
          <p:blipFill>
            <a:blip r:embed="rId2"/>
            <a:stretch>
              <a:fillRect/>
            </a:stretch>
          </p:blipFill>
          <p:spPr>
            <a:xfrm>
              <a:off x="1779146" y="498621"/>
              <a:ext cx="1166308" cy="504565"/>
            </a:xfrm>
            <a:prstGeom prst="rect">
              <a:avLst/>
            </a:prstGeom>
          </p:spPr>
        </p:pic>
        <p:pic>
          <p:nvPicPr>
            <p:cNvPr id="10" name="Picture 9">
              <a:extLst>
                <a:ext uri="{FF2B5EF4-FFF2-40B4-BE49-F238E27FC236}">
                  <a16:creationId xmlns:a16="http://schemas.microsoft.com/office/drawing/2014/main" id="{F45B590F-32A4-78FE-9D26-6904830C6764}"/>
                </a:ext>
              </a:extLst>
            </p:cNvPr>
            <p:cNvPicPr>
              <a:picLocks noChangeAspect="1"/>
            </p:cNvPicPr>
            <p:nvPr/>
          </p:nvPicPr>
          <p:blipFill>
            <a:blip r:embed="rId3"/>
            <a:stretch>
              <a:fillRect/>
            </a:stretch>
          </p:blipFill>
          <p:spPr>
            <a:xfrm>
              <a:off x="442913" y="410973"/>
              <a:ext cx="1335881" cy="706815"/>
            </a:xfrm>
            <a:prstGeom prst="rect">
              <a:avLst/>
            </a:prstGeom>
          </p:spPr>
        </p:pic>
        <p:sp>
          <p:nvSpPr>
            <p:cNvPr id="11" name="Rectangle: Rounded Corners 10">
              <a:extLst>
                <a:ext uri="{FF2B5EF4-FFF2-40B4-BE49-F238E27FC236}">
                  <a16:creationId xmlns:a16="http://schemas.microsoft.com/office/drawing/2014/main" id="{6B279061-F467-CAF4-0782-88710109E8CB}"/>
                </a:ext>
              </a:extLst>
            </p:cNvPr>
            <p:cNvSpPr/>
            <p:nvPr/>
          </p:nvSpPr>
          <p:spPr>
            <a:xfrm>
              <a:off x="442913" y="364331"/>
              <a:ext cx="2643187" cy="800100"/>
            </a:xfrm>
            <a:prstGeom prst="roundRect">
              <a:avLst/>
            </a:prstGeom>
            <a:noFill/>
            <a:ln w="12700">
              <a:solidFill>
                <a:srgbClr val="D72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2" name="Group 11">
            <a:extLst>
              <a:ext uri="{FF2B5EF4-FFF2-40B4-BE49-F238E27FC236}">
                <a16:creationId xmlns:a16="http://schemas.microsoft.com/office/drawing/2014/main" id="{7EAEF1D5-2F4E-2D5F-7FA6-C78FD08B4783}"/>
              </a:ext>
            </a:extLst>
          </p:cNvPr>
          <p:cNvGrpSpPr/>
          <p:nvPr userDrawn="1"/>
        </p:nvGrpSpPr>
        <p:grpSpPr>
          <a:xfrm>
            <a:off x="452761" y="284660"/>
            <a:ext cx="5828146" cy="5307378"/>
            <a:chOff x="452761" y="284660"/>
            <a:chExt cx="5828146" cy="5307378"/>
          </a:xfrm>
        </p:grpSpPr>
        <p:grpSp>
          <p:nvGrpSpPr>
            <p:cNvPr id="13" name="Group 12">
              <a:extLst>
                <a:ext uri="{FF2B5EF4-FFF2-40B4-BE49-F238E27FC236}">
                  <a16:creationId xmlns:a16="http://schemas.microsoft.com/office/drawing/2014/main" id="{5C3587D9-7601-380C-1678-D4659C234963}"/>
                </a:ext>
              </a:extLst>
            </p:cNvPr>
            <p:cNvGrpSpPr/>
            <p:nvPr userDrawn="1"/>
          </p:nvGrpSpPr>
          <p:grpSpPr>
            <a:xfrm>
              <a:off x="452761" y="441931"/>
              <a:ext cx="5828146" cy="186905"/>
              <a:chOff x="452761" y="441931"/>
              <a:chExt cx="5828146" cy="186905"/>
            </a:xfrm>
          </p:grpSpPr>
          <p:cxnSp>
            <p:nvCxnSpPr>
              <p:cNvPr id="17" name="Straight Connector 16">
                <a:extLst>
                  <a:ext uri="{FF2B5EF4-FFF2-40B4-BE49-F238E27FC236}">
                    <a16:creationId xmlns:a16="http://schemas.microsoft.com/office/drawing/2014/main" id="{A769961A-A08F-4670-2043-DE18E369C4EB}"/>
                  </a:ext>
                </a:extLst>
              </p:cNvPr>
              <p:cNvCxnSpPr>
                <a:cxnSpLocks/>
              </p:cNvCxnSpPr>
              <p:nvPr userDrawn="1"/>
            </p:nvCxnSpPr>
            <p:spPr>
              <a:xfrm>
                <a:off x="452761" y="535384"/>
                <a:ext cx="529109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8A6D3E9A-5CF4-7302-4D83-650912E27A24}"/>
                  </a:ext>
                </a:extLst>
              </p:cNvPr>
              <p:cNvSpPr/>
              <p:nvPr userDrawn="1"/>
            </p:nvSpPr>
            <p:spPr>
              <a:xfrm>
                <a:off x="5702771" y="441931"/>
                <a:ext cx="578136" cy="186905"/>
              </a:xfrm>
              <a:prstGeom prst="roundRect">
                <a:avLst>
                  <a:gd name="adj" fmla="val 50000"/>
                </a:avLst>
              </a:prstGeom>
              <a:solidFill>
                <a:srgbClr val="D43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4" name="Group 13">
              <a:extLst>
                <a:ext uri="{FF2B5EF4-FFF2-40B4-BE49-F238E27FC236}">
                  <a16:creationId xmlns:a16="http://schemas.microsoft.com/office/drawing/2014/main" id="{61175D54-F12E-ADDD-4123-320A00E88758}"/>
                </a:ext>
              </a:extLst>
            </p:cNvPr>
            <p:cNvGrpSpPr/>
            <p:nvPr userDrawn="1"/>
          </p:nvGrpSpPr>
          <p:grpSpPr>
            <a:xfrm rot="5400000">
              <a:off x="-1981624" y="2844896"/>
              <a:ext cx="5307378" cy="186905"/>
              <a:chOff x="452761" y="441931"/>
              <a:chExt cx="5828146" cy="186905"/>
            </a:xfrm>
          </p:grpSpPr>
          <p:cxnSp>
            <p:nvCxnSpPr>
              <p:cNvPr id="15" name="Straight Connector 14">
                <a:extLst>
                  <a:ext uri="{FF2B5EF4-FFF2-40B4-BE49-F238E27FC236}">
                    <a16:creationId xmlns:a16="http://schemas.microsoft.com/office/drawing/2014/main" id="{04131417-C426-BDD7-740C-0B72B53E6A1F}"/>
                  </a:ext>
                </a:extLst>
              </p:cNvPr>
              <p:cNvCxnSpPr>
                <a:cxnSpLocks/>
              </p:cNvCxnSpPr>
              <p:nvPr userDrawn="1"/>
            </p:nvCxnSpPr>
            <p:spPr>
              <a:xfrm>
                <a:off x="452761" y="535384"/>
                <a:ext cx="529109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B83A2CE1-3182-5532-E517-C5DD759A61B9}"/>
                  </a:ext>
                </a:extLst>
              </p:cNvPr>
              <p:cNvSpPr/>
              <p:nvPr userDrawn="1"/>
            </p:nvSpPr>
            <p:spPr>
              <a:xfrm>
                <a:off x="5702771" y="441931"/>
                <a:ext cx="578136" cy="186905"/>
              </a:xfrm>
              <a:prstGeom prst="roundRect">
                <a:avLst>
                  <a:gd name="adj" fmla="val 50000"/>
                </a:avLst>
              </a:prstGeom>
              <a:solidFill>
                <a:srgbClr val="D43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spTree>
    <p:extLst>
      <p:ext uri="{BB962C8B-B14F-4D97-AF65-F5344CB8AC3E}">
        <p14:creationId xmlns:p14="http://schemas.microsoft.com/office/powerpoint/2010/main" val="28865905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4CFAF-C624-1B62-D284-7689096B40D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33E3FA2-1905-C05F-D3D1-C70634E705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2E8791-3117-4D34-DD55-4DA6A895900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665C3A6-6133-873A-077E-71259510A6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9CCA88-7CA8-1021-8146-77E48C78E78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8AB1EC5-5142-3579-5830-A623DF275D78}"/>
              </a:ext>
            </a:extLst>
          </p:cNvPr>
          <p:cNvSpPr>
            <a:spLocks noGrp="1"/>
          </p:cNvSpPr>
          <p:nvPr>
            <p:ph type="dt" sz="half" idx="10"/>
          </p:nvPr>
        </p:nvSpPr>
        <p:spPr/>
        <p:txBody>
          <a:bodyPr/>
          <a:lstStyle/>
          <a:p>
            <a:fld id="{C255B2CA-1030-458D-A0FE-EE2D86B4FD41}" type="datetime1">
              <a:rPr lang="en-IN" smtClean="0"/>
              <a:t>30-09-2026</a:t>
            </a:fld>
            <a:endParaRPr lang="en-IN"/>
          </a:p>
        </p:txBody>
      </p:sp>
      <p:sp>
        <p:nvSpPr>
          <p:cNvPr id="8" name="Footer Placeholder 7">
            <a:extLst>
              <a:ext uri="{FF2B5EF4-FFF2-40B4-BE49-F238E27FC236}">
                <a16:creationId xmlns:a16="http://schemas.microsoft.com/office/drawing/2014/main" id="{8D019FC7-614B-8712-47F4-D2D97EBA2F05}"/>
              </a:ext>
            </a:extLst>
          </p:cNvPr>
          <p:cNvSpPr>
            <a:spLocks noGrp="1"/>
          </p:cNvSpPr>
          <p:nvPr>
            <p:ph type="ftr" sz="quarter" idx="11"/>
          </p:nvPr>
        </p:nvSpPr>
        <p:spPr/>
        <p:txBody>
          <a:bodyPr/>
          <a:lstStyle/>
          <a:p>
            <a:r>
              <a:rPr lang="en-IN"/>
              <a:t>IDEA Day Presentation (2025-26)</a:t>
            </a:r>
          </a:p>
        </p:txBody>
      </p:sp>
      <p:sp>
        <p:nvSpPr>
          <p:cNvPr id="9" name="Slide Number Placeholder 8">
            <a:extLst>
              <a:ext uri="{FF2B5EF4-FFF2-40B4-BE49-F238E27FC236}">
                <a16:creationId xmlns:a16="http://schemas.microsoft.com/office/drawing/2014/main" id="{EFCF947C-338E-50F2-5965-F385E535D1E8}"/>
              </a:ext>
            </a:extLst>
          </p:cNvPr>
          <p:cNvSpPr>
            <a:spLocks noGrp="1"/>
          </p:cNvSpPr>
          <p:nvPr>
            <p:ph type="sldNum" sz="quarter" idx="12"/>
          </p:nvPr>
        </p:nvSpPr>
        <p:spPr/>
        <p:txBody>
          <a:bodyPr/>
          <a:lstStyle/>
          <a:p>
            <a:fld id="{9C902771-8627-4730-8F5A-2C051D1E05D5}" type="slidenum">
              <a:rPr lang="en-IN" smtClean="0"/>
              <a:t>‹#›</a:t>
            </a:fld>
            <a:endParaRPr lang="en-IN"/>
          </a:p>
        </p:txBody>
      </p:sp>
      <p:grpSp>
        <p:nvGrpSpPr>
          <p:cNvPr id="10" name="Group 9">
            <a:extLst>
              <a:ext uri="{FF2B5EF4-FFF2-40B4-BE49-F238E27FC236}">
                <a16:creationId xmlns:a16="http://schemas.microsoft.com/office/drawing/2014/main" id="{6D7FBD90-640C-BF4D-08E4-B4998AD62C94}"/>
              </a:ext>
            </a:extLst>
          </p:cNvPr>
          <p:cNvGrpSpPr/>
          <p:nvPr userDrawn="1"/>
        </p:nvGrpSpPr>
        <p:grpSpPr>
          <a:xfrm>
            <a:off x="9182100" y="244476"/>
            <a:ext cx="2171700" cy="657225"/>
            <a:chOff x="442913" y="364331"/>
            <a:chExt cx="2643187" cy="800100"/>
          </a:xfrm>
        </p:grpSpPr>
        <p:pic>
          <p:nvPicPr>
            <p:cNvPr id="11" name="Picture 10">
              <a:extLst>
                <a:ext uri="{FF2B5EF4-FFF2-40B4-BE49-F238E27FC236}">
                  <a16:creationId xmlns:a16="http://schemas.microsoft.com/office/drawing/2014/main" id="{C0FAA19C-B00A-71D7-8C49-B9278EC3A6CE}"/>
                </a:ext>
              </a:extLst>
            </p:cNvPr>
            <p:cNvPicPr>
              <a:picLocks noChangeAspect="1"/>
            </p:cNvPicPr>
            <p:nvPr/>
          </p:nvPicPr>
          <p:blipFill>
            <a:blip r:embed="rId2"/>
            <a:stretch>
              <a:fillRect/>
            </a:stretch>
          </p:blipFill>
          <p:spPr>
            <a:xfrm>
              <a:off x="1779146" y="498621"/>
              <a:ext cx="1166308" cy="504565"/>
            </a:xfrm>
            <a:prstGeom prst="rect">
              <a:avLst/>
            </a:prstGeom>
          </p:spPr>
        </p:pic>
        <p:pic>
          <p:nvPicPr>
            <p:cNvPr id="12" name="Picture 11">
              <a:extLst>
                <a:ext uri="{FF2B5EF4-FFF2-40B4-BE49-F238E27FC236}">
                  <a16:creationId xmlns:a16="http://schemas.microsoft.com/office/drawing/2014/main" id="{7C3D36BB-F6AC-F7FD-F0CC-7C266B1DC604}"/>
                </a:ext>
              </a:extLst>
            </p:cNvPr>
            <p:cNvPicPr>
              <a:picLocks noChangeAspect="1"/>
            </p:cNvPicPr>
            <p:nvPr/>
          </p:nvPicPr>
          <p:blipFill>
            <a:blip r:embed="rId3"/>
            <a:stretch>
              <a:fillRect/>
            </a:stretch>
          </p:blipFill>
          <p:spPr>
            <a:xfrm>
              <a:off x="442913" y="410973"/>
              <a:ext cx="1335881" cy="706815"/>
            </a:xfrm>
            <a:prstGeom prst="rect">
              <a:avLst/>
            </a:prstGeom>
          </p:spPr>
        </p:pic>
        <p:sp>
          <p:nvSpPr>
            <p:cNvPr id="13" name="Rectangle: Rounded Corners 12">
              <a:extLst>
                <a:ext uri="{FF2B5EF4-FFF2-40B4-BE49-F238E27FC236}">
                  <a16:creationId xmlns:a16="http://schemas.microsoft.com/office/drawing/2014/main" id="{5894E5D0-A6D0-5246-C36F-B58CF0EAA68B}"/>
                </a:ext>
              </a:extLst>
            </p:cNvPr>
            <p:cNvSpPr/>
            <p:nvPr/>
          </p:nvSpPr>
          <p:spPr>
            <a:xfrm>
              <a:off x="442913" y="364331"/>
              <a:ext cx="2643187" cy="800100"/>
            </a:xfrm>
            <a:prstGeom prst="roundRect">
              <a:avLst/>
            </a:prstGeom>
            <a:noFill/>
            <a:ln w="12700">
              <a:solidFill>
                <a:srgbClr val="D72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4" name="Group 13">
            <a:extLst>
              <a:ext uri="{FF2B5EF4-FFF2-40B4-BE49-F238E27FC236}">
                <a16:creationId xmlns:a16="http://schemas.microsoft.com/office/drawing/2014/main" id="{7EDAFAE4-AED6-3D67-2CC6-B7E7CB9882A5}"/>
              </a:ext>
            </a:extLst>
          </p:cNvPr>
          <p:cNvGrpSpPr/>
          <p:nvPr userDrawn="1"/>
        </p:nvGrpSpPr>
        <p:grpSpPr>
          <a:xfrm>
            <a:off x="452761" y="284660"/>
            <a:ext cx="5828146" cy="5307378"/>
            <a:chOff x="452761" y="284660"/>
            <a:chExt cx="5828146" cy="5307378"/>
          </a:xfrm>
        </p:grpSpPr>
        <p:grpSp>
          <p:nvGrpSpPr>
            <p:cNvPr id="15" name="Group 14">
              <a:extLst>
                <a:ext uri="{FF2B5EF4-FFF2-40B4-BE49-F238E27FC236}">
                  <a16:creationId xmlns:a16="http://schemas.microsoft.com/office/drawing/2014/main" id="{3F312EB6-AF8B-401C-BB8A-D019F5D64DDB}"/>
                </a:ext>
              </a:extLst>
            </p:cNvPr>
            <p:cNvGrpSpPr/>
            <p:nvPr userDrawn="1"/>
          </p:nvGrpSpPr>
          <p:grpSpPr>
            <a:xfrm>
              <a:off x="452761" y="441931"/>
              <a:ext cx="5828146" cy="186905"/>
              <a:chOff x="452761" y="441931"/>
              <a:chExt cx="5828146" cy="186905"/>
            </a:xfrm>
          </p:grpSpPr>
          <p:cxnSp>
            <p:nvCxnSpPr>
              <p:cNvPr id="19" name="Straight Connector 18">
                <a:extLst>
                  <a:ext uri="{FF2B5EF4-FFF2-40B4-BE49-F238E27FC236}">
                    <a16:creationId xmlns:a16="http://schemas.microsoft.com/office/drawing/2014/main" id="{3AAE35CD-6CB4-99AA-A194-CC8B7F02AB69}"/>
                  </a:ext>
                </a:extLst>
              </p:cNvPr>
              <p:cNvCxnSpPr>
                <a:cxnSpLocks/>
              </p:cNvCxnSpPr>
              <p:nvPr userDrawn="1"/>
            </p:nvCxnSpPr>
            <p:spPr>
              <a:xfrm>
                <a:off x="452761" y="535384"/>
                <a:ext cx="529109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20" name="Rectangle: Rounded Corners 19">
                <a:extLst>
                  <a:ext uri="{FF2B5EF4-FFF2-40B4-BE49-F238E27FC236}">
                    <a16:creationId xmlns:a16="http://schemas.microsoft.com/office/drawing/2014/main" id="{65FDED85-083C-6E1C-49D5-555EFF887CF7}"/>
                  </a:ext>
                </a:extLst>
              </p:cNvPr>
              <p:cNvSpPr/>
              <p:nvPr userDrawn="1"/>
            </p:nvSpPr>
            <p:spPr>
              <a:xfrm>
                <a:off x="5702771" y="441931"/>
                <a:ext cx="578136" cy="186905"/>
              </a:xfrm>
              <a:prstGeom prst="roundRect">
                <a:avLst>
                  <a:gd name="adj" fmla="val 50000"/>
                </a:avLst>
              </a:prstGeom>
              <a:solidFill>
                <a:srgbClr val="D43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6" name="Group 15">
              <a:extLst>
                <a:ext uri="{FF2B5EF4-FFF2-40B4-BE49-F238E27FC236}">
                  <a16:creationId xmlns:a16="http://schemas.microsoft.com/office/drawing/2014/main" id="{C0744AB0-2DF0-E867-7C9D-1626AF116030}"/>
                </a:ext>
              </a:extLst>
            </p:cNvPr>
            <p:cNvGrpSpPr/>
            <p:nvPr userDrawn="1"/>
          </p:nvGrpSpPr>
          <p:grpSpPr>
            <a:xfrm rot="5400000">
              <a:off x="-1981624" y="2844896"/>
              <a:ext cx="5307378" cy="186905"/>
              <a:chOff x="452761" y="441931"/>
              <a:chExt cx="5828146" cy="186905"/>
            </a:xfrm>
          </p:grpSpPr>
          <p:cxnSp>
            <p:nvCxnSpPr>
              <p:cNvPr id="17" name="Straight Connector 16">
                <a:extLst>
                  <a:ext uri="{FF2B5EF4-FFF2-40B4-BE49-F238E27FC236}">
                    <a16:creationId xmlns:a16="http://schemas.microsoft.com/office/drawing/2014/main" id="{C2B3398E-C680-E307-263E-C1131F7C196C}"/>
                  </a:ext>
                </a:extLst>
              </p:cNvPr>
              <p:cNvCxnSpPr>
                <a:cxnSpLocks/>
              </p:cNvCxnSpPr>
              <p:nvPr userDrawn="1"/>
            </p:nvCxnSpPr>
            <p:spPr>
              <a:xfrm>
                <a:off x="452761" y="535384"/>
                <a:ext cx="529109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EFB836ED-E51D-E029-7962-BED415588E5A}"/>
                  </a:ext>
                </a:extLst>
              </p:cNvPr>
              <p:cNvSpPr/>
              <p:nvPr userDrawn="1"/>
            </p:nvSpPr>
            <p:spPr>
              <a:xfrm>
                <a:off x="5702771" y="441931"/>
                <a:ext cx="578136" cy="186905"/>
              </a:xfrm>
              <a:prstGeom prst="roundRect">
                <a:avLst>
                  <a:gd name="adj" fmla="val 50000"/>
                </a:avLst>
              </a:prstGeom>
              <a:solidFill>
                <a:srgbClr val="D43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spTree>
    <p:extLst>
      <p:ext uri="{BB962C8B-B14F-4D97-AF65-F5344CB8AC3E}">
        <p14:creationId xmlns:p14="http://schemas.microsoft.com/office/powerpoint/2010/main" val="1996847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72EE5-E6DA-9F86-7CEA-5EF9D823783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29AEA7F-DE83-8102-3B98-5D0BBA9E6B22}"/>
              </a:ext>
            </a:extLst>
          </p:cNvPr>
          <p:cNvSpPr>
            <a:spLocks noGrp="1"/>
          </p:cNvSpPr>
          <p:nvPr>
            <p:ph type="dt" sz="half" idx="10"/>
          </p:nvPr>
        </p:nvSpPr>
        <p:spPr/>
        <p:txBody>
          <a:bodyPr/>
          <a:lstStyle/>
          <a:p>
            <a:fld id="{D13CB52A-3D95-4C61-9125-92EDF602B47B}" type="datetime1">
              <a:rPr lang="en-IN" smtClean="0"/>
              <a:t>30-09-2026</a:t>
            </a:fld>
            <a:endParaRPr lang="en-IN"/>
          </a:p>
        </p:txBody>
      </p:sp>
      <p:sp>
        <p:nvSpPr>
          <p:cNvPr id="4" name="Footer Placeholder 3">
            <a:extLst>
              <a:ext uri="{FF2B5EF4-FFF2-40B4-BE49-F238E27FC236}">
                <a16:creationId xmlns:a16="http://schemas.microsoft.com/office/drawing/2014/main" id="{2113C3A0-6246-1C6A-8011-EC6766FE8143}"/>
              </a:ext>
            </a:extLst>
          </p:cNvPr>
          <p:cNvSpPr>
            <a:spLocks noGrp="1"/>
          </p:cNvSpPr>
          <p:nvPr>
            <p:ph type="ftr" sz="quarter" idx="11"/>
          </p:nvPr>
        </p:nvSpPr>
        <p:spPr/>
        <p:txBody>
          <a:bodyPr/>
          <a:lstStyle/>
          <a:p>
            <a:r>
              <a:rPr lang="en-IN"/>
              <a:t>IDEA Day Presentation (2025-26)</a:t>
            </a:r>
          </a:p>
        </p:txBody>
      </p:sp>
      <p:sp>
        <p:nvSpPr>
          <p:cNvPr id="5" name="Slide Number Placeholder 4">
            <a:extLst>
              <a:ext uri="{FF2B5EF4-FFF2-40B4-BE49-F238E27FC236}">
                <a16:creationId xmlns:a16="http://schemas.microsoft.com/office/drawing/2014/main" id="{91A3399E-1B79-FB14-9524-DCBBB8601E4C}"/>
              </a:ext>
            </a:extLst>
          </p:cNvPr>
          <p:cNvSpPr>
            <a:spLocks noGrp="1"/>
          </p:cNvSpPr>
          <p:nvPr>
            <p:ph type="sldNum" sz="quarter" idx="12"/>
          </p:nvPr>
        </p:nvSpPr>
        <p:spPr/>
        <p:txBody>
          <a:bodyPr/>
          <a:lstStyle/>
          <a:p>
            <a:fld id="{9C902771-8627-4730-8F5A-2C051D1E05D5}" type="slidenum">
              <a:rPr lang="en-IN" smtClean="0"/>
              <a:t>‹#›</a:t>
            </a:fld>
            <a:endParaRPr lang="en-IN"/>
          </a:p>
        </p:txBody>
      </p:sp>
      <p:grpSp>
        <p:nvGrpSpPr>
          <p:cNvPr id="6" name="Group 5">
            <a:extLst>
              <a:ext uri="{FF2B5EF4-FFF2-40B4-BE49-F238E27FC236}">
                <a16:creationId xmlns:a16="http://schemas.microsoft.com/office/drawing/2014/main" id="{47A6594E-38D8-ECF2-2AD8-3A1432A9C42A}"/>
              </a:ext>
            </a:extLst>
          </p:cNvPr>
          <p:cNvGrpSpPr/>
          <p:nvPr userDrawn="1"/>
        </p:nvGrpSpPr>
        <p:grpSpPr>
          <a:xfrm>
            <a:off x="9182100" y="244476"/>
            <a:ext cx="2171700" cy="657225"/>
            <a:chOff x="442913" y="364331"/>
            <a:chExt cx="2643187" cy="800100"/>
          </a:xfrm>
        </p:grpSpPr>
        <p:pic>
          <p:nvPicPr>
            <p:cNvPr id="7" name="Picture 6">
              <a:extLst>
                <a:ext uri="{FF2B5EF4-FFF2-40B4-BE49-F238E27FC236}">
                  <a16:creationId xmlns:a16="http://schemas.microsoft.com/office/drawing/2014/main" id="{2BA5192E-CE73-57EE-06EC-E65F4B54FAD0}"/>
                </a:ext>
              </a:extLst>
            </p:cNvPr>
            <p:cNvPicPr>
              <a:picLocks noChangeAspect="1"/>
            </p:cNvPicPr>
            <p:nvPr/>
          </p:nvPicPr>
          <p:blipFill>
            <a:blip r:embed="rId2"/>
            <a:stretch>
              <a:fillRect/>
            </a:stretch>
          </p:blipFill>
          <p:spPr>
            <a:xfrm>
              <a:off x="1779146" y="498621"/>
              <a:ext cx="1166308" cy="504565"/>
            </a:xfrm>
            <a:prstGeom prst="rect">
              <a:avLst/>
            </a:prstGeom>
          </p:spPr>
        </p:pic>
        <p:pic>
          <p:nvPicPr>
            <p:cNvPr id="8" name="Picture 7">
              <a:extLst>
                <a:ext uri="{FF2B5EF4-FFF2-40B4-BE49-F238E27FC236}">
                  <a16:creationId xmlns:a16="http://schemas.microsoft.com/office/drawing/2014/main" id="{8B930F9A-BB73-584F-E6E1-72DDB2409071}"/>
                </a:ext>
              </a:extLst>
            </p:cNvPr>
            <p:cNvPicPr>
              <a:picLocks noChangeAspect="1"/>
            </p:cNvPicPr>
            <p:nvPr/>
          </p:nvPicPr>
          <p:blipFill>
            <a:blip r:embed="rId3"/>
            <a:stretch>
              <a:fillRect/>
            </a:stretch>
          </p:blipFill>
          <p:spPr>
            <a:xfrm>
              <a:off x="442913" y="410973"/>
              <a:ext cx="1335881" cy="706815"/>
            </a:xfrm>
            <a:prstGeom prst="rect">
              <a:avLst/>
            </a:prstGeom>
          </p:spPr>
        </p:pic>
        <p:sp>
          <p:nvSpPr>
            <p:cNvPr id="9" name="Rectangle: Rounded Corners 8">
              <a:extLst>
                <a:ext uri="{FF2B5EF4-FFF2-40B4-BE49-F238E27FC236}">
                  <a16:creationId xmlns:a16="http://schemas.microsoft.com/office/drawing/2014/main" id="{F8089ABB-CB7D-E87D-14E7-B447A3D50276}"/>
                </a:ext>
              </a:extLst>
            </p:cNvPr>
            <p:cNvSpPr/>
            <p:nvPr/>
          </p:nvSpPr>
          <p:spPr>
            <a:xfrm>
              <a:off x="442913" y="364331"/>
              <a:ext cx="2643187" cy="800100"/>
            </a:xfrm>
            <a:prstGeom prst="roundRect">
              <a:avLst/>
            </a:prstGeom>
            <a:noFill/>
            <a:ln w="12700">
              <a:solidFill>
                <a:srgbClr val="D72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0" name="Group 9">
            <a:extLst>
              <a:ext uri="{FF2B5EF4-FFF2-40B4-BE49-F238E27FC236}">
                <a16:creationId xmlns:a16="http://schemas.microsoft.com/office/drawing/2014/main" id="{26A9AE8A-62D9-CF7B-3A40-B05DB2F044AF}"/>
              </a:ext>
            </a:extLst>
          </p:cNvPr>
          <p:cNvGrpSpPr/>
          <p:nvPr userDrawn="1"/>
        </p:nvGrpSpPr>
        <p:grpSpPr>
          <a:xfrm>
            <a:off x="452761" y="284660"/>
            <a:ext cx="5828146" cy="5307378"/>
            <a:chOff x="452761" y="284660"/>
            <a:chExt cx="5828146" cy="5307378"/>
          </a:xfrm>
        </p:grpSpPr>
        <p:grpSp>
          <p:nvGrpSpPr>
            <p:cNvPr id="11" name="Group 10">
              <a:extLst>
                <a:ext uri="{FF2B5EF4-FFF2-40B4-BE49-F238E27FC236}">
                  <a16:creationId xmlns:a16="http://schemas.microsoft.com/office/drawing/2014/main" id="{142E8DC4-BBFE-8AA0-E6AE-80EB505075F3}"/>
                </a:ext>
              </a:extLst>
            </p:cNvPr>
            <p:cNvGrpSpPr/>
            <p:nvPr userDrawn="1"/>
          </p:nvGrpSpPr>
          <p:grpSpPr>
            <a:xfrm>
              <a:off x="452761" y="441931"/>
              <a:ext cx="5828146" cy="186905"/>
              <a:chOff x="452761" y="441931"/>
              <a:chExt cx="5828146" cy="186905"/>
            </a:xfrm>
          </p:grpSpPr>
          <p:cxnSp>
            <p:nvCxnSpPr>
              <p:cNvPr id="15" name="Straight Connector 14">
                <a:extLst>
                  <a:ext uri="{FF2B5EF4-FFF2-40B4-BE49-F238E27FC236}">
                    <a16:creationId xmlns:a16="http://schemas.microsoft.com/office/drawing/2014/main" id="{A55A66B6-8C3F-DFC2-ABBE-25F51A1652B5}"/>
                  </a:ext>
                </a:extLst>
              </p:cNvPr>
              <p:cNvCxnSpPr>
                <a:cxnSpLocks/>
              </p:cNvCxnSpPr>
              <p:nvPr userDrawn="1"/>
            </p:nvCxnSpPr>
            <p:spPr>
              <a:xfrm>
                <a:off x="452761" y="535384"/>
                <a:ext cx="529109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D77940EF-45C9-9CAE-2886-CC7DA224903E}"/>
                  </a:ext>
                </a:extLst>
              </p:cNvPr>
              <p:cNvSpPr/>
              <p:nvPr userDrawn="1"/>
            </p:nvSpPr>
            <p:spPr>
              <a:xfrm>
                <a:off x="5702771" y="441931"/>
                <a:ext cx="578136" cy="186905"/>
              </a:xfrm>
              <a:prstGeom prst="roundRect">
                <a:avLst>
                  <a:gd name="adj" fmla="val 50000"/>
                </a:avLst>
              </a:prstGeom>
              <a:solidFill>
                <a:srgbClr val="D43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2" name="Group 11">
              <a:extLst>
                <a:ext uri="{FF2B5EF4-FFF2-40B4-BE49-F238E27FC236}">
                  <a16:creationId xmlns:a16="http://schemas.microsoft.com/office/drawing/2014/main" id="{94613AB1-0325-0B53-EA1E-BBA70711885B}"/>
                </a:ext>
              </a:extLst>
            </p:cNvPr>
            <p:cNvGrpSpPr/>
            <p:nvPr userDrawn="1"/>
          </p:nvGrpSpPr>
          <p:grpSpPr>
            <a:xfrm rot="5400000">
              <a:off x="-1981624" y="2844896"/>
              <a:ext cx="5307378" cy="186905"/>
              <a:chOff x="452761" y="441931"/>
              <a:chExt cx="5828146" cy="186905"/>
            </a:xfrm>
          </p:grpSpPr>
          <p:cxnSp>
            <p:nvCxnSpPr>
              <p:cNvPr id="13" name="Straight Connector 12">
                <a:extLst>
                  <a:ext uri="{FF2B5EF4-FFF2-40B4-BE49-F238E27FC236}">
                    <a16:creationId xmlns:a16="http://schemas.microsoft.com/office/drawing/2014/main" id="{A3DDE5EB-4BCA-A9B0-9A1A-FCAB34CB545A}"/>
                  </a:ext>
                </a:extLst>
              </p:cNvPr>
              <p:cNvCxnSpPr>
                <a:cxnSpLocks/>
              </p:cNvCxnSpPr>
              <p:nvPr userDrawn="1"/>
            </p:nvCxnSpPr>
            <p:spPr>
              <a:xfrm>
                <a:off x="452761" y="535384"/>
                <a:ext cx="529109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4" name="Rectangle: Rounded Corners 13">
                <a:extLst>
                  <a:ext uri="{FF2B5EF4-FFF2-40B4-BE49-F238E27FC236}">
                    <a16:creationId xmlns:a16="http://schemas.microsoft.com/office/drawing/2014/main" id="{D2F59AE4-F01B-9259-1EC4-BE69F8738053}"/>
                  </a:ext>
                </a:extLst>
              </p:cNvPr>
              <p:cNvSpPr/>
              <p:nvPr userDrawn="1"/>
            </p:nvSpPr>
            <p:spPr>
              <a:xfrm>
                <a:off x="5702771" y="441931"/>
                <a:ext cx="578136" cy="186905"/>
              </a:xfrm>
              <a:prstGeom prst="roundRect">
                <a:avLst>
                  <a:gd name="adj" fmla="val 50000"/>
                </a:avLst>
              </a:prstGeom>
              <a:solidFill>
                <a:srgbClr val="D43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spTree>
    <p:extLst>
      <p:ext uri="{BB962C8B-B14F-4D97-AF65-F5344CB8AC3E}">
        <p14:creationId xmlns:p14="http://schemas.microsoft.com/office/powerpoint/2010/main" val="3035088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71E634-7FE5-4F93-D918-26A591733D3C}"/>
              </a:ext>
            </a:extLst>
          </p:cNvPr>
          <p:cNvSpPr>
            <a:spLocks noGrp="1"/>
          </p:cNvSpPr>
          <p:nvPr>
            <p:ph type="dt" sz="half" idx="10"/>
          </p:nvPr>
        </p:nvSpPr>
        <p:spPr/>
        <p:txBody>
          <a:bodyPr/>
          <a:lstStyle/>
          <a:p>
            <a:fld id="{62368307-F3FB-4662-9A77-825FA877E426}" type="datetime1">
              <a:rPr lang="en-IN" smtClean="0"/>
              <a:t>30-09-2026</a:t>
            </a:fld>
            <a:endParaRPr lang="en-IN"/>
          </a:p>
        </p:txBody>
      </p:sp>
      <p:sp>
        <p:nvSpPr>
          <p:cNvPr id="3" name="Footer Placeholder 2">
            <a:extLst>
              <a:ext uri="{FF2B5EF4-FFF2-40B4-BE49-F238E27FC236}">
                <a16:creationId xmlns:a16="http://schemas.microsoft.com/office/drawing/2014/main" id="{7350BBB5-897E-48C7-2FBB-70F76E8FBF18}"/>
              </a:ext>
            </a:extLst>
          </p:cNvPr>
          <p:cNvSpPr>
            <a:spLocks noGrp="1"/>
          </p:cNvSpPr>
          <p:nvPr>
            <p:ph type="ftr" sz="quarter" idx="11"/>
          </p:nvPr>
        </p:nvSpPr>
        <p:spPr/>
        <p:txBody>
          <a:bodyPr/>
          <a:lstStyle/>
          <a:p>
            <a:r>
              <a:rPr lang="en-IN"/>
              <a:t>IDEA Day Presentation (2025-26)</a:t>
            </a:r>
          </a:p>
        </p:txBody>
      </p:sp>
      <p:sp>
        <p:nvSpPr>
          <p:cNvPr id="4" name="Slide Number Placeholder 3">
            <a:extLst>
              <a:ext uri="{FF2B5EF4-FFF2-40B4-BE49-F238E27FC236}">
                <a16:creationId xmlns:a16="http://schemas.microsoft.com/office/drawing/2014/main" id="{0A4BDC6B-29FB-49DB-F7C2-B6759F26CB88}"/>
              </a:ext>
            </a:extLst>
          </p:cNvPr>
          <p:cNvSpPr>
            <a:spLocks noGrp="1"/>
          </p:cNvSpPr>
          <p:nvPr>
            <p:ph type="sldNum" sz="quarter" idx="12"/>
          </p:nvPr>
        </p:nvSpPr>
        <p:spPr/>
        <p:txBody>
          <a:bodyPr/>
          <a:lstStyle/>
          <a:p>
            <a:fld id="{9C902771-8627-4730-8F5A-2C051D1E05D5}" type="slidenum">
              <a:rPr lang="en-IN" smtClean="0"/>
              <a:t>‹#›</a:t>
            </a:fld>
            <a:endParaRPr lang="en-IN"/>
          </a:p>
        </p:txBody>
      </p:sp>
      <p:grpSp>
        <p:nvGrpSpPr>
          <p:cNvPr id="5" name="Group 4">
            <a:extLst>
              <a:ext uri="{FF2B5EF4-FFF2-40B4-BE49-F238E27FC236}">
                <a16:creationId xmlns:a16="http://schemas.microsoft.com/office/drawing/2014/main" id="{41DC3FCF-30C7-8EA6-7DEE-AC7D3794F438}"/>
              </a:ext>
            </a:extLst>
          </p:cNvPr>
          <p:cNvGrpSpPr/>
          <p:nvPr userDrawn="1"/>
        </p:nvGrpSpPr>
        <p:grpSpPr>
          <a:xfrm>
            <a:off x="9182100" y="244476"/>
            <a:ext cx="2171700" cy="657225"/>
            <a:chOff x="442913" y="364331"/>
            <a:chExt cx="2643187" cy="800100"/>
          </a:xfrm>
        </p:grpSpPr>
        <p:pic>
          <p:nvPicPr>
            <p:cNvPr id="6" name="Picture 5">
              <a:extLst>
                <a:ext uri="{FF2B5EF4-FFF2-40B4-BE49-F238E27FC236}">
                  <a16:creationId xmlns:a16="http://schemas.microsoft.com/office/drawing/2014/main" id="{E287AC93-8170-8AC3-94D5-6E536D342FB9}"/>
                </a:ext>
              </a:extLst>
            </p:cNvPr>
            <p:cNvPicPr>
              <a:picLocks noChangeAspect="1"/>
            </p:cNvPicPr>
            <p:nvPr/>
          </p:nvPicPr>
          <p:blipFill>
            <a:blip r:embed="rId2"/>
            <a:stretch>
              <a:fillRect/>
            </a:stretch>
          </p:blipFill>
          <p:spPr>
            <a:xfrm>
              <a:off x="1779146" y="498621"/>
              <a:ext cx="1166308" cy="504565"/>
            </a:xfrm>
            <a:prstGeom prst="rect">
              <a:avLst/>
            </a:prstGeom>
          </p:spPr>
        </p:pic>
        <p:pic>
          <p:nvPicPr>
            <p:cNvPr id="7" name="Picture 6">
              <a:extLst>
                <a:ext uri="{FF2B5EF4-FFF2-40B4-BE49-F238E27FC236}">
                  <a16:creationId xmlns:a16="http://schemas.microsoft.com/office/drawing/2014/main" id="{8F2FCD6A-00C1-75F7-F731-C36C7AEE2EFC}"/>
                </a:ext>
              </a:extLst>
            </p:cNvPr>
            <p:cNvPicPr>
              <a:picLocks noChangeAspect="1"/>
            </p:cNvPicPr>
            <p:nvPr/>
          </p:nvPicPr>
          <p:blipFill>
            <a:blip r:embed="rId3"/>
            <a:stretch>
              <a:fillRect/>
            </a:stretch>
          </p:blipFill>
          <p:spPr>
            <a:xfrm>
              <a:off x="442913" y="410973"/>
              <a:ext cx="1335881" cy="706815"/>
            </a:xfrm>
            <a:prstGeom prst="rect">
              <a:avLst/>
            </a:prstGeom>
          </p:spPr>
        </p:pic>
        <p:sp>
          <p:nvSpPr>
            <p:cNvPr id="8" name="Rectangle: Rounded Corners 7">
              <a:extLst>
                <a:ext uri="{FF2B5EF4-FFF2-40B4-BE49-F238E27FC236}">
                  <a16:creationId xmlns:a16="http://schemas.microsoft.com/office/drawing/2014/main" id="{76C9FC0B-E5C6-B4A9-58B0-821CA3BB4246}"/>
                </a:ext>
              </a:extLst>
            </p:cNvPr>
            <p:cNvSpPr/>
            <p:nvPr/>
          </p:nvSpPr>
          <p:spPr>
            <a:xfrm>
              <a:off x="442913" y="364331"/>
              <a:ext cx="2643187" cy="800100"/>
            </a:xfrm>
            <a:prstGeom prst="roundRect">
              <a:avLst/>
            </a:prstGeom>
            <a:noFill/>
            <a:ln w="12700">
              <a:solidFill>
                <a:srgbClr val="D72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9" name="Group 8">
            <a:extLst>
              <a:ext uri="{FF2B5EF4-FFF2-40B4-BE49-F238E27FC236}">
                <a16:creationId xmlns:a16="http://schemas.microsoft.com/office/drawing/2014/main" id="{6FCA18E9-E747-C040-51B9-5A17ABF87D38}"/>
              </a:ext>
            </a:extLst>
          </p:cNvPr>
          <p:cNvGrpSpPr/>
          <p:nvPr userDrawn="1"/>
        </p:nvGrpSpPr>
        <p:grpSpPr>
          <a:xfrm>
            <a:off x="452761" y="284660"/>
            <a:ext cx="5828146" cy="5307378"/>
            <a:chOff x="452761" y="284660"/>
            <a:chExt cx="5828146" cy="5307378"/>
          </a:xfrm>
        </p:grpSpPr>
        <p:grpSp>
          <p:nvGrpSpPr>
            <p:cNvPr id="10" name="Group 9">
              <a:extLst>
                <a:ext uri="{FF2B5EF4-FFF2-40B4-BE49-F238E27FC236}">
                  <a16:creationId xmlns:a16="http://schemas.microsoft.com/office/drawing/2014/main" id="{79B5A936-785B-6348-0DAB-00EAA99E0E1C}"/>
                </a:ext>
              </a:extLst>
            </p:cNvPr>
            <p:cNvGrpSpPr/>
            <p:nvPr userDrawn="1"/>
          </p:nvGrpSpPr>
          <p:grpSpPr>
            <a:xfrm>
              <a:off x="452761" y="441931"/>
              <a:ext cx="5828146" cy="186905"/>
              <a:chOff x="452761" y="441931"/>
              <a:chExt cx="5828146" cy="186905"/>
            </a:xfrm>
          </p:grpSpPr>
          <p:cxnSp>
            <p:nvCxnSpPr>
              <p:cNvPr id="14" name="Straight Connector 13">
                <a:extLst>
                  <a:ext uri="{FF2B5EF4-FFF2-40B4-BE49-F238E27FC236}">
                    <a16:creationId xmlns:a16="http://schemas.microsoft.com/office/drawing/2014/main" id="{CD4E1696-5258-3A0D-3E77-71D37DCA4DF2}"/>
                  </a:ext>
                </a:extLst>
              </p:cNvPr>
              <p:cNvCxnSpPr>
                <a:cxnSpLocks/>
              </p:cNvCxnSpPr>
              <p:nvPr userDrawn="1"/>
            </p:nvCxnSpPr>
            <p:spPr>
              <a:xfrm>
                <a:off x="452761" y="535384"/>
                <a:ext cx="529109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5" name="Rectangle: Rounded Corners 14">
                <a:extLst>
                  <a:ext uri="{FF2B5EF4-FFF2-40B4-BE49-F238E27FC236}">
                    <a16:creationId xmlns:a16="http://schemas.microsoft.com/office/drawing/2014/main" id="{ADC42462-279D-2DAC-8ECE-294DA0D704BC}"/>
                  </a:ext>
                </a:extLst>
              </p:cNvPr>
              <p:cNvSpPr/>
              <p:nvPr userDrawn="1"/>
            </p:nvSpPr>
            <p:spPr>
              <a:xfrm>
                <a:off x="5702771" y="441931"/>
                <a:ext cx="578136" cy="186905"/>
              </a:xfrm>
              <a:prstGeom prst="roundRect">
                <a:avLst>
                  <a:gd name="adj" fmla="val 50000"/>
                </a:avLst>
              </a:prstGeom>
              <a:solidFill>
                <a:srgbClr val="D43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1" name="Group 10">
              <a:extLst>
                <a:ext uri="{FF2B5EF4-FFF2-40B4-BE49-F238E27FC236}">
                  <a16:creationId xmlns:a16="http://schemas.microsoft.com/office/drawing/2014/main" id="{FCA200BF-CADF-9CB7-6EF0-15DB7369C61A}"/>
                </a:ext>
              </a:extLst>
            </p:cNvPr>
            <p:cNvGrpSpPr/>
            <p:nvPr userDrawn="1"/>
          </p:nvGrpSpPr>
          <p:grpSpPr>
            <a:xfrm rot="5400000">
              <a:off x="-1981624" y="2844896"/>
              <a:ext cx="5307378" cy="186905"/>
              <a:chOff x="452761" y="441931"/>
              <a:chExt cx="5828146" cy="186905"/>
            </a:xfrm>
          </p:grpSpPr>
          <p:cxnSp>
            <p:nvCxnSpPr>
              <p:cNvPr id="12" name="Straight Connector 11">
                <a:extLst>
                  <a:ext uri="{FF2B5EF4-FFF2-40B4-BE49-F238E27FC236}">
                    <a16:creationId xmlns:a16="http://schemas.microsoft.com/office/drawing/2014/main" id="{78C06EDE-9127-023D-ABCC-41C15F603803}"/>
                  </a:ext>
                </a:extLst>
              </p:cNvPr>
              <p:cNvCxnSpPr>
                <a:cxnSpLocks/>
              </p:cNvCxnSpPr>
              <p:nvPr userDrawn="1"/>
            </p:nvCxnSpPr>
            <p:spPr>
              <a:xfrm>
                <a:off x="452761" y="535384"/>
                <a:ext cx="529109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D0BC8FCB-DD1B-89DD-7F99-CCA2F69EA45D}"/>
                  </a:ext>
                </a:extLst>
              </p:cNvPr>
              <p:cNvSpPr/>
              <p:nvPr userDrawn="1"/>
            </p:nvSpPr>
            <p:spPr>
              <a:xfrm>
                <a:off x="5702771" y="441931"/>
                <a:ext cx="578136" cy="186905"/>
              </a:xfrm>
              <a:prstGeom prst="roundRect">
                <a:avLst>
                  <a:gd name="adj" fmla="val 50000"/>
                </a:avLst>
              </a:prstGeom>
              <a:solidFill>
                <a:srgbClr val="D43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spTree>
    <p:extLst>
      <p:ext uri="{BB962C8B-B14F-4D97-AF65-F5344CB8AC3E}">
        <p14:creationId xmlns:p14="http://schemas.microsoft.com/office/powerpoint/2010/main" val="163100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FB7C2-83A9-6D84-A1B8-83C782A96F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4A35CA3-DD57-44B9-E99C-0148778F63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AF9E34E-34E1-E232-E14F-801C8F9714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714C70-ED9F-9839-8575-F83AD4E3D065}"/>
              </a:ext>
            </a:extLst>
          </p:cNvPr>
          <p:cNvSpPr>
            <a:spLocks noGrp="1"/>
          </p:cNvSpPr>
          <p:nvPr>
            <p:ph type="dt" sz="half" idx="10"/>
          </p:nvPr>
        </p:nvSpPr>
        <p:spPr/>
        <p:txBody>
          <a:bodyPr/>
          <a:lstStyle/>
          <a:p>
            <a:fld id="{47E15E89-F7C5-4F7C-8E23-F4C8D7AC2087}" type="datetime1">
              <a:rPr lang="en-IN" smtClean="0"/>
              <a:t>30-09-2026</a:t>
            </a:fld>
            <a:endParaRPr lang="en-IN"/>
          </a:p>
        </p:txBody>
      </p:sp>
      <p:sp>
        <p:nvSpPr>
          <p:cNvPr id="6" name="Footer Placeholder 5">
            <a:extLst>
              <a:ext uri="{FF2B5EF4-FFF2-40B4-BE49-F238E27FC236}">
                <a16:creationId xmlns:a16="http://schemas.microsoft.com/office/drawing/2014/main" id="{1997443B-F2F1-8E38-DA49-25CEAE958CD7}"/>
              </a:ext>
            </a:extLst>
          </p:cNvPr>
          <p:cNvSpPr>
            <a:spLocks noGrp="1"/>
          </p:cNvSpPr>
          <p:nvPr>
            <p:ph type="ftr" sz="quarter" idx="11"/>
          </p:nvPr>
        </p:nvSpPr>
        <p:spPr/>
        <p:txBody>
          <a:bodyPr/>
          <a:lstStyle/>
          <a:p>
            <a:r>
              <a:rPr lang="en-IN"/>
              <a:t>IDEA Day Presentation (2025-26)</a:t>
            </a:r>
          </a:p>
        </p:txBody>
      </p:sp>
      <p:sp>
        <p:nvSpPr>
          <p:cNvPr id="7" name="Slide Number Placeholder 6">
            <a:extLst>
              <a:ext uri="{FF2B5EF4-FFF2-40B4-BE49-F238E27FC236}">
                <a16:creationId xmlns:a16="http://schemas.microsoft.com/office/drawing/2014/main" id="{F40942D0-BD48-9239-06B9-9578FA1E1DAF}"/>
              </a:ext>
            </a:extLst>
          </p:cNvPr>
          <p:cNvSpPr>
            <a:spLocks noGrp="1"/>
          </p:cNvSpPr>
          <p:nvPr>
            <p:ph type="sldNum" sz="quarter" idx="12"/>
          </p:nvPr>
        </p:nvSpPr>
        <p:spPr/>
        <p:txBody>
          <a:bodyPr/>
          <a:lstStyle/>
          <a:p>
            <a:fld id="{9C902771-8627-4730-8F5A-2C051D1E05D5}" type="slidenum">
              <a:rPr lang="en-IN" smtClean="0"/>
              <a:t>‹#›</a:t>
            </a:fld>
            <a:endParaRPr lang="en-IN"/>
          </a:p>
        </p:txBody>
      </p:sp>
      <p:grpSp>
        <p:nvGrpSpPr>
          <p:cNvPr id="8" name="Group 7">
            <a:extLst>
              <a:ext uri="{FF2B5EF4-FFF2-40B4-BE49-F238E27FC236}">
                <a16:creationId xmlns:a16="http://schemas.microsoft.com/office/drawing/2014/main" id="{923D0307-6575-E95A-26B1-BDAA78481B27}"/>
              </a:ext>
            </a:extLst>
          </p:cNvPr>
          <p:cNvGrpSpPr/>
          <p:nvPr userDrawn="1"/>
        </p:nvGrpSpPr>
        <p:grpSpPr>
          <a:xfrm>
            <a:off x="9182100" y="244476"/>
            <a:ext cx="2171700" cy="657225"/>
            <a:chOff x="442913" y="364331"/>
            <a:chExt cx="2643187" cy="800100"/>
          </a:xfrm>
        </p:grpSpPr>
        <p:pic>
          <p:nvPicPr>
            <p:cNvPr id="9" name="Picture 8">
              <a:extLst>
                <a:ext uri="{FF2B5EF4-FFF2-40B4-BE49-F238E27FC236}">
                  <a16:creationId xmlns:a16="http://schemas.microsoft.com/office/drawing/2014/main" id="{121FF7B7-0D5D-4807-6A8B-95D4533A556E}"/>
                </a:ext>
              </a:extLst>
            </p:cNvPr>
            <p:cNvPicPr>
              <a:picLocks noChangeAspect="1"/>
            </p:cNvPicPr>
            <p:nvPr/>
          </p:nvPicPr>
          <p:blipFill>
            <a:blip r:embed="rId2"/>
            <a:stretch>
              <a:fillRect/>
            </a:stretch>
          </p:blipFill>
          <p:spPr>
            <a:xfrm>
              <a:off x="1779146" y="498621"/>
              <a:ext cx="1166308" cy="504565"/>
            </a:xfrm>
            <a:prstGeom prst="rect">
              <a:avLst/>
            </a:prstGeom>
          </p:spPr>
        </p:pic>
        <p:pic>
          <p:nvPicPr>
            <p:cNvPr id="10" name="Picture 9">
              <a:extLst>
                <a:ext uri="{FF2B5EF4-FFF2-40B4-BE49-F238E27FC236}">
                  <a16:creationId xmlns:a16="http://schemas.microsoft.com/office/drawing/2014/main" id="{D53BD68E-6731-D1FC-5490-10101BD9CF65}"/>
                </a:ext>
              </a:extLst>
            </p:cNvPr>
            <p:cNvPicPr>
              <a:picLocks noChangeAspect="1"/>
            </p:cNvPicPr>
            <p:nvPr/>
          </p:nvPicPr>
          <p:blipFill>
            <a:blip r:embed="rId3"/>
            <a:stretch>
              <a:fillRect/>
            </a:stretch>
          </p:blipFill>
          <p:spPr>
            <a:xfrm>
              <a:off x="442913" y="410973"/>
              <a:ext cx="1335881" cy="706815"/>
            </a:xfrm>
            <a:prstGeom prst="rect">
              <a:avLst/>
            </a:prstGeom>
          </p:spPr>
        </p:pic>
        <p:sp>
          <p:nvSpPr>
            <p:cNvPr id="11" name="Rectangle: Rounded Corners 10">
              <a:extLst>
                <a:ext uri="{FF2B5EF4-FFF2-40B4-BE49-F238E27FC236}">
                  <a16:creationId xmlns:a16="http://schemas.microsoft.com/office/drawing/2014/main" id="{38AD5E76-DF77-2FAA-C18A-4EBDB378F21F}"/>
                </a:ext>
              </a:extLst>
            </p:cNvPr>
            <p:cNvSpPr/>
            <p:nvPr/>
          </p:nvSpPr>
          <p:spPr>
            <a:xfrm>
              <a:off x="442913" y="364331"/>
              <a:ext cx="2643187" cy="800100"/>
            </a:xfrm>
            <a:prstGeom prst="roundRect">
              <a:avLst/>
            </a:prstGeom>
            <a:noFill/>
            <a:ln w="12700">
              <a:solidFill>
                <a:srgbClr val="D72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2" name="Group 11">
            <a:extLst>
              <a:ext uri="{FF2B5EF4-FFF2-40B4-BE49-F238E27FC236}">
                <a16:creationId xmlns:a16="http://schemas.microsoft.com/office/drawing/2014/main" id="{6C8AE806-39E8-E893-6CC4-44D92390C583}"/>
              </a:ext>
            </a:extLst>
          </p:cNvPr>
          <p:cNvGrpSpPr/>
          <p:nvPr userDrawn="1"/>
        </p:nvGrpSpPr>
        <p:grpSpPr>
          <a:xfrm>
            <a:off x="452761" y="284660"/>
            <a:ext cx="5828146" cy="5307378"/>
            <a:chOff x="452761" y="284660"/>
            <a:chExt cx="5828146" cy="5307378"/>
          </a:xfrm>
        </p:grpSpPr>
        <p:grpSp>
          <p:nvGrpSpPr>
            <p:cNvPr id="13" name="Group 12">
              <a:extLst>
                <a:ext uri="{FF2B5EF4-FFF2-40B4-BE49-F238E27FC236}">
                  <a16:creationId xmlns:a16="http://schemas.microsoft.com/office/drawing/2014/main" id="{80C84215-B82E-BCC8-3566-44BC061ED5E0}"/>
                </a:ext>
              </a:extLst>
            </p:cNvPr>
            <p:cNvGrpSpPr/>
            <p:nvPr userDrawn="1"/>
          </p:nvGrpSpPr>
          <p:grpSpPr>
            <a:xfrm>
              <a:off x="452761" y="441931"/>
              <a:ext cx="5828146" cy="186905"/>
              <a:chOff x="452761" y="441931"/>
              <a:chExt cx="5828146" cy="186905"/>
            </a:xfrm>
          </p:grpSpPr>
          <p:cxnSp>
            <p:nvCxnSpPr>
              <p:cNvPr id="17" name="Straight Connector 16">
                <a:extLst>
                  <a:ext uri="{FF2B5EF4-FFF2-40B4-BE49-F238E27FC236}">
                    <a16:creationId xmlns:a16="http://schemas.microsoft.com/office/drawing/2014/main" id="{755376BF-4CBC-2975-AA07-D3BDB5EB977C}"/>
                  </a:ext>
                </a:extLst>
              </p:cNvPr>
              <p:cNvCxnSpPr>
                <a:cxnSpLocks/>
              </p:cNvCxnSpPr>
              <p:nvPr userDrawn="1"/>
            </p:nvCxnSpPr>
            <p:spPr>
              <a:xfrm>
                <a:off x="452761" y="535384"/>
                <a:ext cx="529109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1D1B87AD-8EC8-18A4-6802-F885FFA320E2}"/>
                  </a:ext>
                </a:extLst>
              </p:cNvPr>
              <p:cNvSpPr/>
              <p:nvPr userDrawn="1"/>
            </p:nvSpPr>
            <p:spPr>
              <a:xfrm>
                <a:off x="5702771" y="441931"/>
                <a:ext cx="578136" cy="186905"/>
              </a:xfrm>
              <a:prstGeom prst="roundRect">
                <a:avLst>
                  <a:gd name="adj" fmla="val 50000"/>
                </a:avLst>
              </a:prstGeom>
              <a:solidFill>
                <a:srgbClr val="D43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4" name="Group 13">
              <a:extLst>
                <a:ext uri="{FF2B5EF4-FFF2-40B4-BE49-F238E27FC236}">
                  <a16:creationId xmlns:a16="http://schemas.microsoft.com/office/drawing/2014/main" id="{1C35CD10-7BAE-B27A-23D9-307A77AB65C8}"/>
                </a:ext>
              </a:extLst>
            </p:cNvPr>
            <p:cNvGrpSpPr/>
            <p:nvPr userDrawn="1"/>
          </p:nvGrpSpPr>
          <p:grpSpPr>
            <a:xfrm rot="5400000">
              <a:off x="-1981624" y="2844896"/>
              <a:ext cx="5307378" cy="186905"/>
              <a:chOff x="452761" y="441931"/>
              <a:chExt cx="5828146" cy="186905"/>
            </a:xfrm>
          </p:grpSpPr>
          <p:cxnSp>
            <p:nvCxnSpPr>
              <p:cNvPr id="15" name="Straight Connector 14">
                <a:extLst>
                  <a:ext uri="{FF2B5EF4-FFF2-40B4-BE49-F238E27FC236}">
                    <a16:creationId xmlns:a16="http://schemas.microsoft.com/office/drawing/2014/main" id="{F509368D-21CA-422C-87D9-1ABA52921E70}"/>
                  </a:ext>
                </a:extLst>
              </p:cNvPr>
              <p:cNvCxnSpPr>
                <a:cxnSpLocks/>
              </p:cNvCxnSpPr>
              <p:nvPr userDrawn="1"/>
            </p:nvCxnSpPr>
            <p:spPr>
              <a:xfrm>
                <a:off x="452761" y="535384"/>
                <a:ext cx="529109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0EB199FC-E4D7-55A9-136C-01897F963E2B}"/>
                  </a:ext>
                </a:extLst>
              </p:cNvPr>
              <p:cNvSpPr/>
              <p:nvPr userDrawn="1"/>
            </p:nvSpPr>
            <p:spPr>
              <a:xfrm>
                <a:off x="5702771" y="441931"/>
                <a:ext cx="578136" cy="186905"/>
              </a:xfrm>
              <a:prstGeom prst="roundRect">
                <a:avLst>
                  <a:gd name="adj" fmla="val 50000"/>
                </a:avLst>
              </a:prstGeom>
              <a:solidFill>
                <a:srgbClr val="D43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spTree>
    <p:extLst>
      <p:ext uri="{BB962C8B-B14F-4D97-AF65-F5344CB8AC3E}">
        <p14:creationId xmlns:p14="http://schemas.microsoft.com/office/powerpoint/2010/main" val="3789893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6EE29-8420-0F8D-83F8-70D63B1936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1C23363-381E-1A85-DE6C-F4DFB29FD0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A6C4FDC-89B9-50AF-53D8-8786F5D83A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C98CB2-F2FB-CD1F-3E42-64A4DBA709D9}"/>
              </a:ext>
            </a:extLst>
          </p:cNvPr>
          <p:cNvSpPr>
            <a:spLocks noGrp="1"/>
          </p:cNvSpPr>
          <p:nvPr>
            <p:ph type="dt" sz="half" idx="10"/>
          </p:nvPr>
        </p:nvSpPr>
        <p:spPr/>
        <p:txBody>
          <a:bodyPr/>
          <a:lstStyle/>
          <a:p>
            <a:fld id="{36C4EDF9-7296-4BC6-A269-8C54F5245100}" type="datetime1">
              <a:rPr lang="en-IN" smtClean="0"/>
              <a:t>30-09-2026</a:t>
            </a:fld>
            <a:endParaRPr lang="en-IN"/>
          </a:p>
        </p:txBody>
      </p:sp>
      <p:sp>
        <p:nvSpPr>
          <p:cNvPr id="6" name="Footer Placeholder 5">
            <a:extLst>
              <a:ext uri="{FF2B5EF4-FFF2-40B4-BE49-F238E27FC236}">
                <a16:creationId xmlns:a16="http://schemas.microsoft.com/office/drawing/2014/main" id="{84DD14A3-71F9-2997-BBEF-079B4C9C6F49}"/>
              </a:ext>
            </a:extLst>
          </p:cNvPr>
          <p:cNvSpPr>
            <a:spLocks noGrp="1"/>
          </p:cNvSpPr>
          <p:nvPr>
            <p:ph type="ftr" sz="quarter" idx="11"/>
          </p:nvPr>
        </p:nvSpPr>
        <p:spPr/>
        <p:txBody>
          <a:bodyPr/>
          <a:lstStyle/>
          <a:p>
            <a:r>
              <a:rPr lang="en-IN"/>
              <a:t>IDEA Day Presentation (2025-26)</a:t>
            </a:r>
          </a:p>
        </p:txBody>
      </p:sp>
      <p:sp>
        <p:nvSpPr>
          <p:cNvPr id="7" name="Slide Number Placeholder 6">
            <a:extLst>
              <a:ext uri="{FF2B5EF4-FFF2-40B4-BE49-F238E27FC236}">
                <a16:creationId xmlns:a16="http://schemas.microsoft.com/office/drawing/2014/main" id="{52AE7D1B-CBD3-4272-C8EC-85BD4AA38347}"/>
              </a:ext>
            </a:extLst>
          </p:cNvPr>
          <p:cNvSpPr>
            <a:spLocks noGrp="1"/>
          </p:cNvSpPr>
          <p:nvPr>
            <p:ph type="sldNum" sz="quarter" idx="12"/>
          </p:nvPr>
        </p:nvSpPr>
        <p:spPr/>
        <p:txBody>
          <a:bodyPr/>
          <a:lstStyle/>
          <a:p>
            <a:fld id="{9C902771-8627-4730-8F5A-2C051D1E05D5}" type="slidenum">
              <a:rPr lang="en-IN" smtClean="0"/>
              <a:t>‹#›</a:t>
            </a:fld>
            <a:endParaRPr lang="en-IN"/>
          </a:p>
        </p:txBody>
      </p:sp>
      <p:grpSp>
        <p:nvGrpSpPr>
          <p:cNvPr id="8" name="Group 7">
            <a:extLst>
              <a:ext uri="{FF2B5EF4-FFF2-40B4-BE49-F238E27FC236}">
                <a16:creationId xmlns:a16="http://schemas.microsoft.com/office/drawing/2014/main" id="{B37E4BE5-249E-E917-5811-CBE985918587}"/>
              </a:ext>
            </a:extLst>
          </p:cNvPr>
          <p:cNvGrpSpPr/>
          <p:nvPr userDrawn="1"/>
        </p:nvGrpSpPr>
        <p:grpSpPr>
          <a:xfrm>
            <a:off x="9182100" y="244476"/>
            <a:ext cx="2171700" cy="657225"/>
            <a:chOff x="442913" y="364331"/>
            <a:chExt cx="2643187" cy="800100"/>
          </a:xfrm>
        </p:grpSpPr>
        <p:pic>
          <p:nvPicPr>
            <p:cNvPr id="9" name="Picture 8">
              <a:extLst>
                <a:ext uri="{FF2B5EF4-FFF2-40B4-BE49-F238E27FC236}">
                  <a16:creationId xmlns:a16="http://schemas.microsoft.com/office/drawing/2014/main" id="{B6DC7B12-C22B-BA7B-7297-B57566972C2C}"/>
                </a:ext>
              </a:extLst>
            </p:cNvPr>
            <p:cNvPicPr>
              <a:picLocks noChangeAspect="1"/>
            </p:cNvPicPr>
            <p:nvPr/>
          </p:nvPicPr>
          <p:blipFill>
            <a:blip r:embed="rId2"/>
            <a:stretch>
              <a:fillRect/>
            </a:stretch>
          </p:blipFill>
          <p:spPr>
            <a:xfrm>
              <a:off x="1779146" y="498621"/>
              <a:ext cx="1166308" cy="504565"/>
            </a:xfrm>
            <a:prstGeom prst="rect">
              <a:avLst/>
            </a:prstGeom>
          </p:spPr>
        </p:pic>
        <p:pic>
          <p:nvPicPr>
            <p:cNvPr id="10" name="Picture 9">
              <a:extLst>
                <a:ext uri="{FF2B5EF4-FFF2-40B4-BE49-F238E27FC236}">
                  <a16:creationId xmlns:a16="http://schemas.microsoft.com/office/drawing/2014/main" id="{26B6F8F3-89FE-31E1-5E8E-822168EA933E}"/>
                </a:ext>
              </a:extLst>
            </p:cNvPr>
            <p:cNvPicPr>
              <a:picLocks noChangeAspect="1"/>
            </p:cNvPicPr>
            <p:nvPr/>
          </p:nvPicPr>
          <p:blipFill>
            <a:blip r:embed="rId3"/>
            <a:stretch>
              <a:fillRect/>
            </a:stretch>
          </p:blipFill>
          <p:spPr>
            <a:xfrm>
              <a:off x="442913" y="410973"/>
              <a:ext cx="1335881" cy="706815"/>
            </a:xfrm>
            <a:prstGeom prst="rect">
              <a:avLst/>
            </a:prstGeom>
          </p:spPr>
        </p:pic>
        <p:sp>
          <p:nvSpPr>
            <p:cNvPr id="11" name="Rectangle: Rounded Corners 10">
              <a:extLst>
                <a:ext uri="{FF2B5EF4-FFF2-40B4-BE49-F238E27FC236}">
                  <a16:creationId xmlns:a16="http://schemas.microsoft.com/office/drawing/2014/main" id="{D1AE3819-5CC0-3266-B8B3-1A22C1A0366A}"/>
                </a:ext>
              </a:extLst>
            </p:cNvPr>
            <p:cNvSpPr/>
            <p:nvPr/>
          </p:nvSpPr>
          <p:spPr>
            <a:xfrm>
              <a:off x="442913" y="364331"/>
              <a:ext cx="2643187" cy="800100"/>
            </a:xfrm>
            <a:prstGeom prst="roundRect">
              <a:avLst/>
            </a:prstGeom>
            <a:noFill/>
            <a:ln w="12700">
              <a:solidFill>
                <a:srgbClr val="D72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2" name="Group 11">
            <a:extLst>
              <a:ext uri="{FF2B5EF4-FFF2-40B4-BE49-F238E27FC236}">
                <a16:creationId xmlns:a16="http://schemas.microsoft.com/office/drawing/2014/main" id="{17B88D25-9333-665A-2D26-42D7C2729B37}"/>
              </a:ext>
            </a:extLst>
          </p:cNvPr>
          <p:cNvGrpSpPr/>
          <p:nvPr userDrawn="1"/>
        </p:nvGrpSpPr>
        <p:grpSpPr>
          <a:xfrm>
            <a:off x="452761" y="284660"/>
            <a:ext cx="5828146" cy="5307378"/>
            <a:chOff x="452761" y="284660"/>
            <a:chExt cx="5828146" cy="5307378"/>
          </a:xfrm>
        </p:grpSpPr>
        <p:grpSp>
          <p:nvGrpSpPr>
            <p:cNvPr id="13" name="Group 12">
              <a:extLst>
                <a:ext uri="{FF2B5EF4-FFF2-40B4-BE49-F238E27FC236}">
                  <a16:creationId xmlns:a16="http://schemas.microsoft.com/office/drawing/2014/main" id="{7E864CB4-12BB-C07C-B13A-08299EB21D20}"/>
                </a:ext>
              </a:extLst>
            </p:cNvPr>
            <p:cNvGrpSpPr/>
            <p:nvPr userDrawn="1"/>
          </p:nvGrpSpPr>
          <p:grpSpPr>
            <a:xfrm>
              <a:off x="452761" y="441931"/>
              <a:ext cx="5828146" cy="186905"/>
              <a:chOff x="452761" y="441931"/>
              <a:chExt cx="5828146" cy="186905"/>
            </a:xfrm>
          </p:grpSpPr>
          <p:cxnSp>
            <p:nvCxnSpPr>
              <p:cNvPr id="17" name="Straight Connector 16">
                <a:extLst>
                  <a:ext uri="{FF2B5EF4-FFF2-40B4-BE49-F238E27FC236}">
                    <a16:creationId xmlns:a16="http://schemas.microsoft.com/office/drawing/2014/main" id="{9F0AEC22-45DD-4065-71FD-AAF1AD5A5AE4}"/>
                  </a:ext>
                </a:extLst>
              </p:cNvPr>
              <p:cNvCxnSpPr>
                <a:cxnSpLocks/>
              </p:cNvCxnSpPr>
              <p:nvPr userDrawn="1"/>
            </p:nvCxnSpPr>
            <p:spPr>
              <a:xfrm>
                <a:off x="452761" y="535384"/>
                <a:ext cx="529109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1798D869-5545-B8A4-683D-624305A9FF79}"/>
                  </a:ext>
                </a:extLst>
              </p:cNvPr>
              <p:cNvSpPr/>
              <p:nvPr userDrawn="1"/>
            </p:nvSpPr>
            <p:spPr>
              <a:xfrm>
                <a:off x="5702771" y="441931"/>
                <a:ext cx="578136" cy="186905"/>
              </a:xfrm>
              <a:prstGeom prst="roundRect">
                <a:avLst>
                  <a:gd name="adj" fmla="val 50000"/>
                </a:avLst>
              </a:prstGeom>
              <a:solidFill>
                <a:srgbClr val="D43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4" name="Group 13">
              <a:extLst>
                <a:ext uri="{FF2B5EF4-FFF2-40B4-BE49-F238E27FC236}">
                  <a16:creationId xmlns:a16="http://schemas.microsoft.com/office/drawing/2014/main" id="{2A0C9AFB-0593-EDAF-3E40-7351C2139CF1}"/>
                </a:ext>
              </a:extLst>
            </p:cNvPr>
            <p:cNvGrpSpPr/>
            <p:nvPr userDrawn="1"/>
          </p:nvGrpSpPr>
          <p:grpSpPr>
            <a:xfrm rot="5400000">
              <a:off x="-1981624" y="2844896"/>
              <a:ext cx="5307378" cy="186905"/>
              <a:chOff x="452761" y="441931"/>
              <a:chExt cx="5828146" cy="186905"/>
            </a:xfrm>
          </p:grpSpPr>
          <p:cxnSp>
            <p:nvCxnSpPr>
              <p:cNvPr id="15" name="Straight Connector 14">
                <a:extLst>
                  <a:ext uri="{FF2B5EF4-FFF2-40B4-BE49-F238E27FC236}">
                    <a16:creationId xmlns:a16="http://schemas.microsoft.com/office/drawing/2014/main" id="{3F6DFAE3-016F-249D-4848-AFAEB026C2FE}"/>
                  </a:ext>
                </a:extLst>
              </p:cNvPr>
              <p:cNvCxnSpPr>
                <a:cxnSpLocks/>
              </p:cNvCxnSpPr>
              <p:nvPr userDrawn="1"/>
            </p:nvCxnSpPr>
            <p:spPr>
              <a:xfrm>
                <a:off x="452761" y="535384"/>
                <a:ext cx="529109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9F0CA9DC-1F33-EDFF-C9BE-6820F741BADD}"/>
                  </a:ext>
                </a:extLst>
              </p:cNvPr>
              <p:cNvSpPr/>
              <p:nvPr userDrawn="1"/>
            </p:nvSpPr>
            <p:spPr>
              <a:xfrm>
                <a:off x="5702771" y="441931"/>
                <a:ext cx="578136" cy="186905"/>
              </a:xfrm>
              <a:prstGeom prst="roundRect">
                <a:avLst>
                  <a:gd name="adj" fmla="val 50000"/>
                </a:avLst>
              </a:prstGeom>
              <a:solidFill>
                <a:srgbClr val="D43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spTree>
    <p:extLst>
      <p:ext uri="{BB962C8B-B14F-4D97-AF65-F5344CB8AC3E}">
        <p14:creationId xmlns:p14="http://schemas.microsoft.com/office/powerpoint/2010/main" val="829969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F2209-D087-FA1D-79E4-8A75D949C43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46644F8-3A04-D954-B5A9-53CE28C7E3E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1AEBD5-3835-4601-8F54-A4F4EBB40D34}"/>
              </a:ext>
            </a:extLst>
          </p:cNvPr>
          <p:cNvSpPr>
            <a:spLocks noGrp="1"/>
          </p:cNvSpPr>
          <p:nvPr>
            <p:ph type="dt" sz="half" idx="10"/>
          </p:nvPr>
        </p:nvSpPr>
        <p:spPr/>
        <p:txBody>
          <a:bodyPr/>
          <a:lstStyle/>
          <a:p>
            <a:fld id="{DD6D57E0-F04B-4209-92E1-65F4161686DA}" type="datetime1">
              <a:rPr lang="en-IN" smtClean="0"/>
              <a:t>30-09-2026</a:t>
            </a:fld>
            <a:endParaRPr lang="en-IN"/>
          </a:p>
        </p:txBody>
      </p:sp>
      <p:sp>
        <p:nvSpPr>
          <p:cNvPr id="5" name="Footer Placeholder 4">
            <a:extLst>
              <a:ext uri="{FF2B5EF4-FFF2-40B4-BE49-F238E27FC236}">
                <a16:creationId xmlns:a16="http://schemas.microsoft.com/office/drawing/2014/main" id="{3427267C-9206-4499-3B5E-B7CC89506A20}"/>
              </a:ext>
            </a:extLst>
          </p:cNvPr>
          <p:cNvSpPr>
            <a:spLocks noGrp="1"/>
          </p:cNvSpPr>
          <p:nvPr>
            <p:ph type="ftr" sz="quarter" idx="11"/>
          </p:nvPr>
        </p:nvSpPr>
        <p:spPr/>
        <p:txBody>
          <a:bodyPr/>
          <a:lstStyle/>
          <a:p>
            <a:r>
              <a:rPr lang="en-IN"/>
              <a:t>IDEA Day Presentation (2025-26)</a:t>
            </a:r>
          </a:p>
        </p:txBody>
      </p:sp>
      <p:sp>
        <p:nvSpPr>
          <p:cNvPr id="6" name="Slide Number Placeholder 5">
            <a:extLst>
              <a:ext uri="{FF2B5EF4-FFF2-40B4-BE49-F238E27FC236}">
                <a16:creationId xmlns:a16="http://schemas.microsoft.com/office/drawing/2014/main" id="{0D195973-3D89-A597-2A0C-B24D621239F2}"/>
              </a:ext>
            </a:extLst>
          </p:cNvPr>
          <p:cNvSpPr>
            <a:spLocks noGrp="1"/>
          </p:cNvSpPr>
          <p:nvPr>
            <p:ph type="sldNum" sz="quarter" idx="12"/>
          </p:nvPr>
        </p:nvSpPr>
        <p:spPr/>
        <p:txBody>
          <a:bodyPr/>
          <a:lstStyle/>
          <a:p>
            <a:fld id="{9C902771-8627-4730-8F5A-2C051D1E05D5}" type="slidenum">
              <a:rPr lang="en-IN" smtClean="0"/>
              <a:t>‹#›</a:t>
            </a:fld>
            <a:endParaRPr lang="en-IN"/>
          </a:p>
        </p:txBody>
      </p:sp>
      <p:grpSp>
        <p:nvGrpSpPr>
          <p:cNvPr id="7" name="Group 6">
            <a:extLst>
              <a:ext uri="{FF2B5EF4-FFF2-40B4-BE49-F238E27FC236}">
                <a16:creationId xmlns:a16="http://schemas.microsoft.com/office/drawing/2014/main" id="{9422062E-992D-8B86-5C80-85CF7133B4F4}"/>
              </a:ext>
            </a:extLst>
          </p:cNvPr>
          <p:cNvGrpSpPr/>
          <p:nvPr userDrawn="1"/>
        </p:nvGrpSpPr>
        <p:grpSpPr>
          <a:xfrm>
            <a:off x="9182100" y="244476"/>
            <a:ext cx="2171700" cy="657225"/>
            <a:chOff x="442913" y="364331"/>
            <a:chExt cx="2643187" cy="800100"/>
          </a:xfrm>
        </p:grpSpPr>
        <p:pic>
          <p:nvPicPr>
            <p:cNvPr id="8" name="Picture 7">
              <a:extLst>
                <a:ext uri="{FF2B5EF4-FFF2-40B4-BE49-F238E27FC236}">
                  <a16:creationId xmlns:a16="http://schemas.microsoft.com/office/drawing/2014/main" id="{411A9199-459A-1A28-1073-863697E6FBFD}"/>
                </a:ext>
              </a:extLst>
            </p:cNvPr>
            <p:cNvPicPr>
              <a:picLocks noChangeAspect="1"/>
            </p:cNvPicPr>
            <p:nvPr/>
          </p:nvPicPr>
          <p:blipFill>
            <a:blip r:embed="rId2"/>
            <a:stretch>
              <a:fillRect/>
            </a:stretch>
          </p:blipFill>
          <p:spPr>
            <a:xfrm>
              <a:off x="1779146" y="498621"/>
              <a:ext cx="1166308" cy="504565"/>
            </a:xfrm>
            <a:prstGeom prst="rect">
              <a:avLst/>
            </a:prstGeom>
          </p:spPr>
        </p:pic>
        <p:pic>
          <p:nvPicPr>
            <p:cNvPr id="9" name="Picture 8">
              <a:extLst>
                <a:ext uri="{FF2B5EF4-FFF2-40B4-BE49-F238E27FC236}">
                  <a16:creationId xmlns:a16="http://schemas.microsoft.com/office/drawing/2014/main" id="{0B42CF80-C922-42E3-ADA7-21EAF82D3B3A}"/>
                </a:ext>
              </a:extLst>
            </p:cNvPr>
            <p:cNvPicPr>
              <a:picLocks noChangeAspect="1"/>
            </p:cNvPicPr>
            <p:nvPr/>
          </p:nvPicPr>
          <p:blipFill>
            <a:blip r:embed="rId3"/>
            <a:stretch>
              <a:fillRect/>
            </a:stretch>
          </p:blipFill>
          <p:spPr>
            <a:xfrm>
              <a:off x="442913" y="410973"/>
              <a:ext cx="1335881" cy="706815"/>
            </a:xfrm>
            <a:prstGeom prst="rect">
              <a:avLst/>
            </a:prstGeom>
          </p:spPr>
        </p:pic>
        <p:sp>
          <p:nvSpPr>
            <p:cNvPr id="10" name="Rectangle: Rounded Corners 9">
              <a:extLst>
                <a:ext uri="{FF2B5EF4-FFF2-40B4-BE49-F238E27FC236}">
                  <a16:creationId xmlns:a16="http://schemas.microsoft.com/office/drawing/2014/main" id="{33C30CCD-8B53-3B42-B318-927FD8A11DF4}"/>
                </a:ext>
              </a:extLst>
            </p:cNvPr>
            <p:cNvSpPr/>
            <p:nvPr/>
          </p:nvSpPr>
          <p:spPr>
            <a:xfrm>
              <a:off x="442913" y="364331"/>
              <a:ext cx="2643187" cy="800100"/>
            </a:xfrm>
            <a:prstGeom prst="roundRect">
              <a:avLst/>
            </a:prstGeom>
            <a:noFill/>
            <a:ln w="12700">
              <a:solidFill>
                <a:srgbClr val="D72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1" name="Group 10">
            <a:extLst>
              <a:ext uri="{FF2B5EF4-FFF2-40B4-BE49-F238E27FC236}">
                <a16:creationId xmlns:a16="http://schemas.microsoft.com/office/drawing/2014/main" id="{F99ED00B-6515-33DA-3E2E-448E63191791}"/>
              </a:ext>
            </a:extLst>
          </p:cNvPr>
          <p:cNvGrpSpPr/>
          <p:nvPr userDrawn="1"/>
        </p:nvGrpSpPr>
        <p:grpSpPr>
          <a:xfrm>
            <a:off x="452761" y="284660"/>
            <a:ext cx="5828146" cy="5307378"/>
            <a:chOff x="452761" y="284660"/>
            <a:chExt cx="5828146" cy="5307378"/>
          </a:xfrm>
        </p:grpSpPr>
        <p:grpSp>
          <p:nvGrpSpPr>
            <p:cNvPr id="12" name="Group 11">
              <a:extLst>
                <a:ext uri="{FF2B5EF4-FFF2-40B4-BE49-F238E27FC236}">
                  <a16:creationId xmlns:a16="http://schemas.microsoft.com/office/drawing/2014/main" id="{A0092CFD-F046-5326-8BFF-9A6BB3E9759F}"/>
                </a:ext>
              </a:extLst>
            </p:cNvPr>
            <p:cNvGrpSpPr/>
            <p:nvPr userDrawn="1"/>
          </p:nvGrpSpPr>
          <p:grpSpPr>
            <a:xfrm>
              <a:off x="452761" y="441931"/>
              <a:ext cx="5828146" cy="186905"/>
              <a:chOff x="452761" y="441931"/>
              <a:chExt cx="5828146" cy="186905"/>
            </a:xfrm>
          </p:grpSpPr>
          <p:cxnSp>
            <p:nvCxnSpPr>
              <p:cNvPr id="16" name="Straight Connector 15">
                <a:extLst>
                  <a:ext uri="{FF2B5EF4-FFF2-40B4-BE49-F238E27FC236}">
                    <a16:creationId xmlns:a16="http://schemas.microsoft.com/office/drawing/2014/main" id="{60FAD908-662E-2CE6-25E0-1B1250928E35}"/>
                  </a:ext>
                </a:extLst>
              </p:cNvPr>
              <p:cNvCxnSpPr>
                <a:cxnSpLocks/>
              </p:cNvCxnSpPr>
              <p:nvPr userDrawn="1"/>
            </p:nvCxnSpPr>
            <p:spPr>
              <a:xfrm>
                <a:off x="452761" y="535384"/>
                <a:ext cx="529109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ECB8A763-7A4C-2873-0CAD-BB22F936BD7E}"/>
                  </a:ext>
                </a:extLst>
              </p:cNvPr>
              <p:cNvSpPr/>
              <p:nvPr userDrawn="1"/>
            </p:nvSpPr>
            <p:spPr>
              <a:xfrm>
                <a:off x="5702771" y="441931"/>
                <a:ext cx="578136" cy="186905"/>
              </a:xfrm>
              <a:prstGeom prst="roundRect">
                <a:avLst>
                  <a:gd name="adj" fmla="val 50000"/>
                </a:avLst>
              </a:prstGeom>
              <a:solidFill>
                <a:srgbClr val="D43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3" name="Group 12">
              <a:extLst>
                <a:ext uri="{FF2B5EF4-FFF2-40B4-BE49-F238E27FC236}">
                  <a16:creationId xmlns:a16="http://schemas.microsoft.com/office/drawing/2014/main" id="{8502CE42-F640-0095-EC8E-2716EF2859D3}"/>
                </a:ext>
              </a:extLst>
            </p:cNvPr>
            <p:cNvGrpSpPr/>
            <p:nvPr userDrawn="1"/>
          </p:nvGrpSpPr>
          <p:grpSpPr>
            <a:xfrm rot="5400000">
              <a:off x="-1981624" y="2844896"/>
              <a:ext cx="5307378" cy="186905"/>
              <a:chOff x="452761" y="441931"/>
              <a:chExt cx="5828146" cy="186905"/>
            </a:xfrm>
          </p:grpSpPr>
          <p:cxnSp>
            <p:nvCxnSpPr>
              <p:cNvPr id="14" name="Straight Connector 13">
                <a:extLst>
                  <a:ext uri="{FF2B5EF4-FFF2-40B4-BE49-F238E27FC236}">
                    <a16:creationId xmlns:a16="http://schemas.microsoft.com/office/drawing/2014/main" id="{90144412-7232-EFAB-C442-6605DFAB1460}"/>
                  </a:ext>
                </a:extLst>
              </p:cNvPr>
              <p:cNvCxnSpPr>
                <a:cxnSpLocks/>
              </p:cNvCxnSpPr>
              <p:nvPr userDrawn="1"/>
            </p:nvCxnSpPr>
            <p:spPr>
              <a:xfrm>
                <a:off x="452761" y="535384"/>
                <a:ext cx="529109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5" name="Rectangle: Rounded Corners 14">
                <a:extLst>
                  <a:ext uri="{FF2B5EF4-FFF2-40B4-BE49-F238E27FC236}">
                    <a16:creationId xmlns:a16="http://schemas.microsoft.com/office/drawing/2014/main" id="{A0417C86-0902-1E37-8F4C-98F5DCB3DF2A}"/>
                  </a:ext>
                </a:extLst>
              </p:cNvPr>
              <p:cNvSpPr/>
              <p:nvPr userDrawn="1"/>
            </p:nvSpPr>
            <p:spPr>
              <a:xfrm>
                <a:off x="5702771" y="441931"/>
                <a:ext cx="578136" cy="186905"/>
              </a:xfrm>
              <a:prstGeom prst="roundRect">
                <a:avLst>
                  <a:gd name="adj" fmla="val 50000"/>
                </a:avLst>
              </a:prstGeom>
              <a:solidFill>
                <a:srgbClr val="D43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spTree>
    <p:extLst>
      <p:ext uri="{BB962C8B-B14F-4D97-AF65-F5344CB8AC3E}">
        <p14:creationId xmlns:p14="http://schemas.microsoft.com/office/powerpoint/2010/main" val="21758783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A0B842-E5A0-885A-118E-BE619EA827B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5BD774D-F367-E92C-E94B-E005DE3E980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521054-C752-44AA-9C18-73EE573FC155}"/>
              </a:ext>
            </a:extLst>
          </p:cNvPr>
          <p:cNvSpPr>
            <a:spLocks noGrp="1"/>
          </p:cNvSpPr>
          <p:nvPr>
            <p:ph type="dt" sz="half" idx="10"/>
          </p:nvPr>
        </p:nvSpPr>
        <p:spPr/>
        <p:txBody>
          <a:bodyPr/>
          <a:lstStyle/>
          <a:p>
            <a:fld id="{087CC481-6171-44A7-8D7A-13CE64C7F3EF}" type="datetime1">
              <a:rPr lang="en-IN" smtClean="0"/>
              <a:t>30-09-2026</a:t>
            </a:fld>
            <a:endParaRPr lang="en-IN"/>
          </a:p>
        </p:txBody>
      </p:sp>
      <p:sp>
        <p:nvSpPr>
          <p:cNvPr id="5" name="Footer Placeholder 4">
            <a:extLst>
              <a:ext uri="{FF2B5EF4-FFF2-40B4-BE49-F238E27FC236}">
                <a16:creationId xmlns:a16="http://schemas.microsoft.com/office/drawing/2014/main" id="{24CBD31A-3365-308B-E9E2-AD3C65E71B88}"/>
              </a:ext>
            </a:extLst>
          </p:cNvPr>
          <p:cNvSpPr>
            <a:spLocks noGrp="1"/>
          </p:cNvSpPr>
          <p:nvPr>
            <p:ph type="ftr" sz="quarter" idx="11"/>
          </p:nvPr>
        </p:nvSpPr>
        <p:spPr/>
        <p:txBody>
          <a:bodyPr/>
          <a:lstStyle/>
          <a:p>
            <a:r>
              <a:rPr lang="en-IN"/>
              <a:t>IDEA Day Presentation (2025-26)</a:t>
            </a:r>
          </a:p>
        </p:txBody>
      </p:sp>
      <p:sp>
        <p:nvSpPr>
          <p:cNvPr id="6" name="Slide Number Placeholder 5">
            <a:extLst>
              <a:ext uri="{FF2B5EF4-FFF2-40B4-BE49-F238E27FC236}">
                <a16:creationId xmlns:a16="http://schemas.microsoft.com/office/drawing/2014/main" id="{21FA0806-09F2-1704-3A17-882648377704}"/>
              </a:ext>
            </a:extLst>
          </p:cNvPr>
          <p:cNvSpPr>
            <a:spLocks noGrp="1"/>
          </p:cNvSpPr>
          <p:nvPr>
            <p:ph type="sldNum" sz="quarter" idx="12"/>
          </p:nvPr>
        </p:nvSpPr>
        <p:spPr/>
        <p:txBody>
          <a:bodyPr/>
          <a:lstStyle/>
          <a:p>
            <a:fld id="{9C902771-8627-4730-8F5A-2C051D1E05D5}" type="slidenum">
              <a:rPr lang="en-IN" smtClean="0"/>
              <a:t>‹#›</a:t>
            </a:fld>
            <a:endParaRPr lang="en-IN"/>
          </a:p>
        </p:txBody>
      </p:sp>
      <p:grpSp>
        <p:nvGrpSpPr>
          <p:cNvPr id="7" name="Group 6">
            <a:extLst>
              <a:ext uri="{FF2B5EF4-FFF2-40B4-BE49-F238E27FC236}">
                <a16:creationId xmlns:a16="http://schemas.microsoft.com/office/drawing/2014/main" id="{96BC68C4-EF1B-B4F9-2B48-8484929DDF70}"/>
              </a:ext>
            </a:extLst>
          </p:cNvPr>
          <p:cNvGrpSpPr/>
          <p:nvPr userDrawn="1"/>
        </p:nvGrpSpPr>
        <p:grpSpPr>
          <a:xfrm>
            <a:off x="9182100" y="244476"/>
            <a:ext cx="2171700" cy="657225"/>
            <a:chOff x="442913" y="364331"/>
            <a:chExt cx="2643187" cy="800100"/>
          </a:xfrm>
        </p:grpSpPr>
        <p:pic>
          <p:nvPicPr>
            <p:cNvPr id="8" name="Picture 7">
              <a:extLst>
                <a:ext uri="{FF2B5EF4-FFF2-40B4-BE49-F238E27FC236}">
                  <a16:creationId xmlns:a16="http://schemas.microsoft.com/office/drawing/2014/main" id="{C26618E3-BD0C-0FFE-090A-9C46A996CF26}"/>
                </a:ext>
              </a:extLst>
            </p:cNvPr>
            <p:cNvPicPr>
              <a:picLocks noChangeAspect="1"/>
            </p:cNvPicPr>
            <p:nvPr/>
          </p:nvPicPr>
          <p:blipFill>
            <a:blip r:embed="rId2"/>
            <a:stretch>
              <a:fillRect/>
            </a:stretch>
          </p:blipFill>
          <p:spPr>
            <a:xfrm>
              <a:off x="1779146" y="498621"/>
              <a:ext cx="1166308" cy="504565"/>
            </a:xfrm>
            <a:prstGeom prst="rect">
              <a:avLst/>
            </a:prstGeom>
          </p:spPr>
        </p:pic>
        <p:pic>
          <p:nvPicPr>
            <p:cNvPr id="9" name="Picture 8">
              <a:extLst>
                <a:ext uri="{FF2B5EF4-FFF2-40B4-BE49-F238E27FC236}">
                  <a16:creationId xmlns:a16="http://schemas.microsoft.com/office/drawing/2014/main" id="{6FE55C30-A789-0947-0917-CE5D9A34E4AC}"/>
                </a:ext>
              </a:extLst>
            </p:cNvPr>
            <p:cNvPicPr>
              <a:picLocks noChangeAspect="1"/>
            </p:cNvPicPr>
            <p:nvPr/>
          </p:nvPicPr>
          <p:blipFill>
            <a:blip r:embed="rId3"/>
            <a:stretch>
              <a:fillRect/>
            </a:stretch>
          </p:blipFill>
          <p:spPr>
            <a:xfrm>
              <a:off x="442913" y="410973"/>
              <a:ext cx="1335881" cy="706815"/>
            </a:xfrm>
            <a:prstGeom prst="rect">
              <a:avLst/>
            </a:prstGeom>
          </p:spPr>
        </p:pic>
        <p:sp>
          <p:nvSpPr>
            <p:cNvPr id="10" name="Rectangle: Rounded Corners 9">
              <a:extLst>
                <a:ext uri="{FF2B5EF4-FFF2-40B4-BE49-F238E27FC236}">
                  <a16:creationId xmlns:a16="http://schemas.microsoft.com/office/drawing/2014/main" id="{04924E4A-EDC1-ED9A-4EDB-3F31C615847A}"/>
                </a:ext>
              </a:extLst>
            </p:cNvPr>
            <p:cNvSpPr/>
            <p:nvPr/>
          </p:nvSpPr>
          <p:spPr>
            <a:xfrm>
              <a:off x="442913" y="364331"/>
              <a:ext cx="2643187" cy="800100"/>
            </a:xfrm>
            <a:prstGeom prst="roundRect">
              <a:avLst/>
            </a:prstGeom>
            <a:noFill/>
            <a:ln w="12700">
              <a:solidFill>
                <a:srgbClr val="D723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1" name="Group 10">
            <a:extLst>
              <a:ext uri="{FF2B5EF4-FFF2-40B4-BE49-F238E27FC236}">
                <a16:creationId xmlns:a16="http://schemas.microsoft.com/office/drawing/2014/main" id="{ECA75892-CAF8-E381-3765-DE066302B069}"/>
              </a:ext>
            </a:extLst>
          </p:cNvPr>
          <p:cNvGrpSpPr/>
          <p:nvPr userDrawn="1"/>
        </p:nvGrpSpPr>
        <p:grpSpPr>
          <a:xfrm>
            <a:off x="452761" y="284660"/>
            <a:ext cx="5828146" cy="5307378"/>
            <a:chOff x="452761" y="284660"/>
            <a:chExt cx="5828146" cy="5307378"/>
          </a:xfrm>
        </p:grpSpPr>
        <p:grpSp>
          <p:nvGrpSpPr>
            <p:cNvPr id="12" name="Group 11">
              <a:extLst>
                <a:ext uri="{FF2B5EF4-FFF2-40B4-BE49-F238E27FC236}">
                  <a16:creationId xmlns:a16="http://schemas.microsoft.com/office/drawing/2014/main" id="{3D4E01C8-F23C-82A0-2244-70ACE507DFF8}"/>
                </a:ext>
              </a:extLst>
            </p:cNvPr>
            <p:cNvGrpSpPr/>
            <p:nvPr userDrawn="1"/>
          </p:nvGrpSpPr>
          <p:grpSpPr>
            <a:xfrm>
              <a:off x="452761" y="441931"/>
              <a:ext cx="5828146" cy="186905"/>
              <a:chOff x="452761" y="441931"/>
              <a:chExt cx="5828146" cy="186905"/>
            </a:xfrm>
          </p:grpSpPr>
          <p:cxnSp>
            <p:nvCxnSpPr>
              <p:cNvPr id="16" name="Straight Connector 15">
                <a:extLst>
                  <a:ext uri="{FF2B5EF4-FFF2-40B4-BE49-F238E27FC236}">
                    <a16:creationId xmlns:a16="http://schemas.microsoft.com/office/drawing/2014/main" id="{FA365A93-7511-736D-2386-1A1EC86F4A29}"/>
                  </a:ext>
                </a:extLst>
              </p:cNvPr>
              <p:cNvCxnSpPr>
                <a:cxnSpLocks/>
              </p:cNvCxnSpPr>
              <p:nvPr userDrawn="1"/>
            </p:nvCxnSpPr>
            <p:spPr>
              <a:xfrm>
                <a:off x="452761" y="535384"/>
                <a:ext cx="529109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D646955B-9FF2-AECB-2A6A-F265CE4D367D}"/>
                  </a:ext>
                </a:extLst>
              </p:cNvPr>
              <p:cNvSpPr/>
              <p:nvPr userDrawn="1"/>
            </p:nvSpPr>
            <p:spPr>
              <a:xfrm>
                <a:off x="5702771" y="441931"/>
                <a:ext cx="578136" cy="186905"/>
              </a:xfrm>
              <a:prstGeom prst="roundRect">
                <a:avLst>
                  <a:gd name="adj" fmla="val 50000"/>
                </a:avLst>
              </a:prstGeom>
              <a:solidFill>
                <a:srgbClr val="D43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3" name="Group 12">
              <a:extLst>
                <a:ext uri="{FF2B5EF4-FFF2-40B4-BE49-F238E27FC236}">
                  <a16:creationId xmlns:a16="http://schemas.microsoft.com/office/drawing/2014/main" id="{A32465D8-6BA5-E6A4-627C-070770834443}"/>
                </a:ext>
              </a:extLst>
            </p:cNvPr>
            <p:cNvGrpSpPr/>
            <p:nvPr userDrawn="1"/>
          </p:nvGrpSpPr>
          <p:grpSpPr>
            <a:xfrm rot="5400000">
              <a:off x="-1981624" y="2844896"/>
              <a:ext cx="5307378" cy="186905"/>
              <a:chOff x="452761" y="441931"/>
              <a:chExt cx="5828146" cy="186905"/>
            </a:xfrm>
          </p:grpSpPr>
          <p:cxnSp>
            <p:nvCxnSpPr>
              <p:cNvPr id="14" name="Straight Connector 13">
                <a:extLst>
                  <a:ext uri="{FF2B5EF4-FFF2-40B4-BE49-F238E27FC236}">
                    <a16:creationId xmlns:a16="http://schemas.microsoft.com/office/drawing/2014/main" id="{9ECF0E13-6668-0612-6BA4-8B58F019A057}"/>
                  </a:ext>
                </a:extLst>
              </p:cNvPr>
              <p:cNvCxnSpPr>
                <a:cxnSpLocks/>
              </p:cNvCxnSpPr>
              <p:nvPr userDrawn="1"/>
            </p:nvCxnSpPr>
            <p:spPr>
              <a:xfrm>
                <a:off x="452761" y="535384"/>
                <a:ext cx="529109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5" name="Rectangle: Rounded Corners 14">
                <a:extLst>
                  <a:ext uri="{FF2B5EF4-FFF2-40B4-BE49-F238E27FC236}">
                    <a16:creationId xmlns:a16="http://schemas.microsoft.com/office/drawing/2014/main" id="{074C1F02-A4C3-7544-2775-32705830E35F}"/>
                  </a:ext>
                </a:extLst>
              </p:cNvPr>
              <p:cNvSpPr/>
              <p:nvPr userDrawn="1"/>
            </p:nvSpPr>
            <p:spPr>
              <a:xfrm>
                <a:off x="5702771" y="441931"/>
                <a:ext cx="578136" cy="186905"/>
              </a:xfrm>
              <a:prstGeom prst="roundRect">
                <a:avLst>
                  <a:gd name="adj" fmla="val 50000"/>
                </a:avLst>
              </a:prstGeom>
              <a:solidFill>
                <a:srgbClr val="D43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spTree>
    <p:extLst>
      <p:ext uri="{BB962C8B-B14F-4D97-AF65-F5344CB8AC3E}">
        <p14:creationId xmlns:p14="http://schemas.microsoft.com/office/powerpoint/2010/main" val="22171347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4DD636-9F0B-F062-BAA2-C348D77283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718810-0E10-E949-21D9-0BB71E0686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E854F08-12DA-51B2-5D43-A64D4912CF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132883-7166-4E08-BFF6-FB0DF00B5AFE}" type="datetime1">
              <a:rPr lang="en-IN" smtClean="0"/>
              <a:t>30-09-2026</a:t>
            </a:fld>
            <a:endParaRPr lang="en-IN"/>
          </a:p>
        </p:txBody>
      </p:sp>
      <p:sp>
        <p:nvSpPr>
          <p:cNvPr id="5" name="Footer Placeholder 4">
            <a:extLst>
              <a:ext uri="{FF2B5EF4-FFF2-40B4-BE49-F238E27FC236}">
                <a16:creationId xmlns:a16="http://schemas.microsoft.com/office/drawing/2014/main" id="{F00CBADA-0EE3-958F-369A-F0F927F27B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IDEA Day Presentation (2025-26)</a:t>
            </a:r>
          </a:p>
        </p:txBody>
      </p:sp>
      <p:sp>
        <p:nvSpPr>
          <p:cNvPr id="6" name="Slide Number Placeholder 5">
            <a:extLst>
              <a:ext uri="{FF2B5EF4-FFF2-40B4-BE49-F238E27FC236}">
                <a16:creationId xmlns:a16="http://schemas.microsoft.com/office/drawing/2014/main" id="{90C9429D-6AEB-BDB3-07AC-40B96F1C01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902771-8627-4730-8F5A-2C051D1E05D5}" type="slidenum">
              <a:rPr lang="en-IN" smtClean="0"/>
              <a:t>‹#›</a:t>
            </a:fld>
            <a:endParaRPr lang="en-IN"/>
          </a:p>
        </p:txBody>
      </p:sp>
    </p:spTree>
    <p:extLst>
      <p:ext uri="{BB962C8B-B14F-4D97-AF65-F5344CB8AC3E}">
        <p14:creationId xmlns:p14="http://schemas.microsoft.com/office/powerpoint/2010/main" val="33385608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8E43E-458E-7945-6129-9D6B7955691D}"/>
              </a:ext>
            </a:extLst>
          </p:cNvPr>
          <p:cNvSpPr>
            <a:spLocks noGrp="1"/>
          </p:cNvSpPr>
          <p:nvPr>
            <p:ph type="ctrTitle"/>
          </p:nvPr>
        </p:nvSpPr>
        <p:spPr/>
        <p:txBody>
          <a:bodyPr>
            <a:normAutofit fontScale="90000"/>
          </a:bodyPr>
          <a:lstStyle/>
          <a:p>
            <a:r>
              <a:rPr lang="en-US" b="1" dirty="0" err="1">
                <a:latin typeface="Times New Roman" panose="02020603050405020304" pitchFamily="18" charset="0"/>
                <a:cs typeface="Times New Roman" panose="02020603050405020304" pitchFamily="18" charset="0"/>
              </a:rPr>
              <a:t>GreenCloud</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A Carbon-Aware Personal Storage System</a:t>
            </a:r>
            <a:endParaRPr lang="en-IN"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85C6F736-C2C6-60D2-2873-38DFB571311B}"/>
              </a:ext>
            </a:extLst>
          </p:cNvPr>
          <p:cNvSpPr>
            <a:spLocks noGrp="1"/>
          </p:cNvSpPr>
          <p:nvPr>
            <p:ph type="dt" sz="half" idx="10"/>
          </p:nvPr>
        </p:nvSpPr>
        <p:spPr/>
        <p:txBody>
          <a:bodyPr/>
          <a:lstStyle/>
          <a:p>
            <a:fld id="{FE4BE153-21B9-4B1D-940C-1497214F0563}" type="datetime1">
              <a:rPr lang="en-IN" smtClean="0"/>
              <a:t>30-09-2026</a:t>
            </a:fld>
            <a:endParaRPr lang="en-IN"/>
          </a:p>
        </p:txBody>
      </p:sp>
      <p:sp>
        <p:nvSpPr>
          <p:cNvPr id="9" name="Footer Placeholder 8">
            <a:extLst>
              <a:ext uri="{FF2B5EF4-FFF2-40B4-BE49-F238E27FC236}">
                <a16:creationId xmlns:a16="http://schemas.microsoft.com/office/drawing/2014/main" id="{C816F0CC-ABC7-1CB9-8A36-A95B27FA2D56}"/>
              </a:ext>
            </a:extLst>
          </p:cNvPr>
          <p:cNvSpPr>
            <a:spLocks noGrp="1"/>
          </p:cNvSpPr>
          <p:nvPr>
            <p:ph type="ftr" sz="quarter" idx="11"/>
          </p:nvPr>
        </p:nvSpPr>
        <p:spPr/>
        <p:txBody>
          <a:bodyPr/>
          <a:lstStyle/>
          <a:p>
            <a:r>
              <a:rPr lang="en-IN"/>
              <a:t>IDEA Day Presentation (2025-26)</a:t>
            </a:r>
            <a:endParaRPr lang="en-IN" dirty="0"/>
          </a:p>
        </p:txBody>
      </p:sp>
      <p:sp>
        <p:nvSpPr>
          <p:cNvPr id="12" name="Rectangle 3">
            <a:extLst>
              <a:ext uri="{FF2B5EF4-FFF2-40B4-BE49-F238E27FC236}">
                <a16:creationId xmlns:a16="http://schemas.microsoft.com/office/drawing/2014/main" id="{8AF1D9D4-F20C-9BDF-A39E-6631B06497C8}"/>
              </a:ext>
            </a:extLst>
          </p:cNvPr>
          <p:cNvSpPr>
            <a:spLocks noChangeArrowheads="1"/>
          </p:cNvSpPr>
          <p:nvPr/>
        </p:nvSpPr>
        <p:spPr bwMode="auto">
          <a:xfrm>
            <a:off x="2093068" y="4245614"/>
            <a:ext cx="4079963"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Team Name: 10</a:t>
            </a:r>
            <a:r>
              <a:rPr lang="en-US" altLang="en-US" sz="2000" baseline="30000" dirty="0">
                <a:latin typeface="Times New Roman" panose="02020603050405020304" pitchFamily="18" charset="0"/>
                <a:cs typeface="Times New Roman" panose="02020603050405020304" pitchFamily="18" charset="0"/>
              </a:rPr>
              <a:t>th</a:t>
            </a:r>
            <a:r>
              <a:rPr lang="en-US" altLang="en-US" sz="2000" dirty="0">
                <a:latin typeface="Times New Roman" panose="02020603050405020304" pitchFamily="18" charset="0"/>
                <a:cs typeface="Times New Roman" panose="02020603050405020304" pitchFamily="18" charset="0"/>
              </a:rPr>
              <a:t> batch</a:t>
            </a:r>
          </a:p>
          <a:p>
            <a:pPr lvl="0"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Team Members: Ch.Bhargavi-3</a:t>
            </a:r>
            <a:r>
              <a:rPr lang="en-US" altLang="en-US" sz="2000" baseline="30000" dirty="0">
                <a:latin typeface="Times New Roman" panose="02020603050405020304" pitchFamily="18" charset="0"/>
                <a:cs typeface="Times New Roman" panose="02020603050405020304" pitchFamily="18" charset="0"/>
              </a:rPr>
              <a:t>rd</a:t>
            </a:r>
            <a:r>
              <a:rPr lang="en-US" altLang="en-US" sz="2000" dirty="0">
                <a:latin typeface="Times New Roman" panose="02020603050405020304" pitchFamily="18" charset="0"/>
                <a:cs typeface="Times New Roman" panose="02020603050405020304" pitchFamily="18" charset="0"/>
              </a:rPr>
              <a:t> year</a:t>
            </a:r>
          </a:p>
          <a:p>
            <a:pPr lvl="0" eaLnBrk="0" fontAlgn="base" hangingPunct="0">
              <a:spcBef>
                <a:spcPct val="0"/>
              </a:spcBef>
              <a:spcAft>
                <a:spcPct val="0"/>
              </a:spcAft>
            </a:pPr>
            <a:r>
              <a:rPr lang="en-US" altLang="en-US" sz="2000" i="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B.Chandini-3</a:t>
            </a:r>
            <a:r>
              <a:rPr lang="en-US" altLang="en-US" sz="2000" baseline="30000" dirty="0">
                <a:latin typeface="Times New Roman" panose="02020603050405020304" pitchFamily="18" charset="0"/>
                <a:cs typeface="Times New Roman" panose="02020603050405020304" pitchFamily="18" charset="0"/>
              </a:rPr>
              <a:t>rd</a:t>
            </a:r>
            <a:r>
              <a:rPr lang="en-US" altLang="en-US" sz="2000" dirty="0">
                <a:latin typeface="Times New Roman" panose="02020603050405020304" pitchFamily="18" charset="0"/>
                <a:cs typeface="Times New Roman" panose="02020603050405020304" pitchFamily="18" charset="0"/>
              </a:rPr>
              <a:t> year</a:t>
            </a:r>
          </a:p>
          <a:p>
            <a:pPr lvl="0" eaLnBrk="0" fontAlgn="base" hangingPunct="0">
              <a:spcBef>
                <a:spcPct val="0"/>
              </a:spcBef>
              <a:spcAft>
                <a:spcPct val="0"/>
              </a:spcAft>
            </a:pPr>
            <a:r>
              <a:rPr lang="en-US" altLang="en-US" sz="2000" i="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Ch.Anusha-3</a:t>
            </a:r>
            <a:r>
              <a:rPr lang="en-US" altLang="en-US" sz="2000" baseline="30000" dirty="0">
                <a:latin typeface="Times New Roman" panose="02020603050405020304" pitchFamily="18" charset="0"/>
                <a:cs typeface="Times New Roman" panose="02020603050405020304" pitchFamily="18" charset="0"/>
              </a:rPr>
              <a:t>rd</a:t>
            </a:r>
            <a:r>
              <a:rPr lang="en-US" altLang="en-US" sz="2000" dirty="0">
                <a:latin typeface="Times New Roman" panose="02020603050405020304" pitchFamily="18" charset="0"/>
                <a:cs typeface="Times New Roman" panose="02020603050405020304" pitchFamily="18" charset="0"/>
              </a:rPr>
              <a:t> year</a:t>
            </a:r>
          </a:p>
          <a:p>
            <a:pPr lvl="0" eaLnBrk="0" fontAlgn="base" hangingPunct="0">
              <a:spcBef>
                <a:spcPct val="0"/>
              </a:spcBef>
              <a:spcAft>
                <a:spcPct val="0"/>
              </a:spcAft>
            </a:pPr>
            <a:r>
              <a:rPr lang="en-US" altLang="en-US" sz="2000" i="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P.Sandhya-3</a:t>
            </a:r>
            <a:r>
              <a:rPr lang="en-US" altLang="en-US" sz="2000" baseline="30000" dirty="0">
                <a:latin typeface="Times New Roman" panose="02020603050405020304" pitchFamily="18" charset="0"/>
                <a:cs typeface="Times New Roman" panose="02020603050405020304" pitchFamily="18" charset="0"/>
              </a:rPr>
              <a:t>rd</a:t>
            </a:r>
            <a:r>
              <a:rPr lang="en-US" altLang="en-US" sz="2000" dirty="0">
                <a:latin typeface="Times New Roman" panose="02020603050405020304" pitchFamily="18" charset="0"/>
                <a:cs typeface="Times New Roman" panose="02020603050405020304" pitchFamily="18" charset="0"/>
              </a:rPr>
              <a:t> year</a:t>
            </a:r>
          </a:p>
          <a:p>
            <a:pPr lvl="0"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Department: CSE</a:t>
            </a:r>
          </a:p>
        </p:txBody>
      </p:sp>
      <p:sp>
        <p:nvSpPr>
          <p:cNvPr id="15" name="Rectangle 3">
            <a:extLst>
              <a:ext uri="{FF2B5EF4-FFF2-40B4-BE49-F238E27FC236}">
                <a16:creationId xmlns:a16="http://schemas.microsoft.com/office/drawing/2014/main" id="{DB4EB070-82D0-2A45-3E50-B5490A774173}"/>
              </a:ext>
            </a:extLst>
          </p:cNvPr>
          <p:cNvSpPr>
            <a:spLocks noChangeArrowheads="1"/>
          </p:cNvSpPr>
          <p:nvPr/>
        </p:nvSpPr>
        <p:spPr bwMode="auto">
          <a:xfrm>
            <a:off x="2093068" y="3723900"/>
            <a:ext cx="90446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b="1" dirty="0">
                <a:latin typeface="Times New Roman" panose="02020603050405020304" pitchFamily="18" charset="0"/>
                <a:cs typeface="Times New Roman" panose="02020603050405020304" pitchFamily="18" charset="0"/>
              </a:rPr>
              <a:t>Theme</a:t>
            </a:r>
            <a:r>
              <a:rPr lang="en-US" altLang="en-US" sz="2000" b="1" dirty="0">
                <a:solidFill>
                  <a:srgbClr val="D4302C"/>
                </a:solidFill>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Sustainable Cloud Operations (</a:t>
            </a:r>
            <a:r>
              <a:rPr lang="en-US" sz="2000" dirty="0" err="1">
                <a:latin typeface="Times New Roman" panose="02020603050405020304" pitchFamily="18" charset="0"/>
                <a:cs typeface="Times New Roman" panose="02020603050405020304" pitchFamily="18" charset="0"/>
              </a:rPr>
              <a:t>GreenOps</a:t>
            </a:r>
            <a:r>
              <a:rPr lang="en-US" sz="2000" dirty="0">
                <a:latin typeface="Times New Roman" panose="02020603050405020304" pitchFamily="18" charset="0"/>
                <a:cs typeface="Times New Roman" panose="02020603050405020304" pitchFamily="18" charset="0"/>
              </a:rPr>
              <a:t>) Through Data-Level Optimization</a:t>
            </a:r>
            <a:endParaRPr lang="en-US" altLang="en-US" sz="20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94B5C04F-142E-46EC-9C88-3B92C607E3D5}"/>
              </a:ext>
            </a:extLst>
          </p:cNvPr>
          <p:cNvSpPr>
            <a:spLocks noGrp="1"/>
          </p:cNvSpPr>
          <p:nvPr>
            <p:ph type="sldNum" sz="quarter" idx="12"/>
          </p:nvPr>
        </p:nvSpPr>
        <p:spPr/>
        <p:txBody>
          <a:bodyPr/>
          <a:lstStyle/>
          <a:p>
            <a:fld id="{9C902771-8627-4730-8F5A-2C051D1E05D5}" type="slidenum">
              <a:rPr lang="en-IN" smtClean="0"/>
              <a:t>1</a:t>
            </a:fld>
            <a:endParaRPr lang="en-IN"/>
          </a:p>
        </p:txBody>
      </p:sp>
    </p:spTree>
    <p:extLst>
      <p:ext uri="{BB962C8B-B14F-4D97-AF65-F5344CB8AC3E}">
        <p14:creationId xmlns:p14="http://schemas.microsoft.com/office/powerpoint/2010/main" val="6012905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13648-7D3B-5C1D-01CB-D228A8695083}"/>
              </a:ext>
            </a:extLst>
          </p:cNvPr>
          <p:cNvSpPr>
            <a:spLocks noGrp="1"/>
          </p:cNvSpPr>
          <p:nvPr>
            <p:ph type="title"/>
          </p:nvPr>
        </p:nvSpPr>
        <p:spPr>
          <a:xfrm>
            <a:off x="838200" y="546847"/>
            <a:ext cx="10515600" cy="1143841"/>
          </a:xfrm>
        </p:spPr>
        <p:txBody>
          <a:bodyPr/>
          <a:lstStyle/>
          <a:p>
            <a:r>
              <a:rPr lang="en-IN" b="1"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113D89A0-C169-242C-5875-A9D19A8FFC66}"/>
              </a:ext>
            </a:extLst>
          </p:cNvPr>
          <p:cNvSpPr>
            <a:spLocks noGrp="1"/>
          </p:cNvSpPr>
          <p:nvPr>
            <p:ph idx="1"/>
          </p:nvPr>
        </p:nvSpPr>
        <p:spPr>
          <a:xfrm>
            <a:off x="838200" y="1619687"/>
            <a:ext cx="10515600" cy="4557276"/>
          </a:xfrm>
        </p:spPr>
        <p:txBody>
          <a:bodyPr>
            <a:normAutofit fontScale="25000" lnSpcReduction="20000"/>
          </a:bodyPr>
          <a:lstStyle/>
          <a:p>
            <a:pPr marL="0" indent="0">
              <a:buNone/>
            </a:pPr>
            <a:r>
              <a:rPr lang="en-IN" sz="9600" dirty="0">
                <a:latin typeface="Times New Roman" panose="02020603050405020304" pitchFamily="18" charset="0"/>
                <a:cs typeface="Times New Roman" panose="02020603050405020304" pitchFamily="18" charset="0"/>
              </a:rPr>
              <a:t>Nowadays, people store a large amount of personal data such as photos, videos, documents, and backup files in cloud storage. To store and manage this data, cloud data </a:t>
            </a:r>
            <a:r>
              <a:rPr lang="en-IN" sz="9600" dirty="0" err="1">
                <a:latin typeface="Times New Roman" panose="02020603050405020304" pitchFamily="18" charset="0"/>
                <a:cs typeface="Times New Roman" panose="02020603050405020304" pitchFamily="18" charset="0"/>
              </a:rPr>
              <a:t>centers</a:t>
            </a:r>
            <a:r>
              <a:rPr lang="en-IN" sz="9600" dirty="0">
                <a:latin typeface="Times New Roman" panose="02020603050405020304" pitchFamily="18" charset="0"/>
                <a:cs typeface="Times New Roman" panose="02020603050405020304" pitchFamily="18" charset="0"/>
              </a:rPr>
              <a:t> consume a significant amount of electricity. The generation and consumption of this electricity can contribute to carbon emissions and environmental impact. However, most personal cloud storage systems mainly focus on storage capacity, data accessibility, and performance, without considering the carbon impact of storing and accessing data. Users also have limited awareness of how their cloud storage activities can contribute to carbon emissions. Therefore, there is a need for a </a:t>
            </a:r>
            <a:r>
              <a:rPr lang="en-IN" sz="9600" b="1" dirty="0">
                <a:latin typeface="Times New Roman" panose="02020603050405020304" pitchFamily="18" charset="0"/>
                <a:cs typeface="Times New Roman" panose="02020603050405020304" pitchFamily="18" charset="0"/>
              </a:rPr>
              <a:t>carbon-aware personal storage system</a:t>
            </a:r>
            <a:r>
              <a:rPr lang="en-IN" sz="9600" dirty="0">
                <a:latin typeface="Times New Roman" panose="02020603050405020304" pitchFamily="18" charset="0"/>
                <a:cs typeface="Times New Roman" panose="02020603050405020304" pitchFamily="18" charset="0"/>
              </a:rPr>
              <a:t> that can manage users’ data efficiently while considering energy consumption and carbon emissions. </a:t>
            </a:r>
            <a:r>
              <a:rPr lang="en-IN" sz="9600" b="1" dirty="0">
                <a:latin typeface="Times New Roman" panose="02020603050405020304" pitchFamily="18" charset="0"/>
                <a:cs typeface="Times New Roman" panose="02020603050405020304" pitchFamily="18" charset="0"/>
              </a:rPr>
              <a:t>Green Cloud</a:t>
            </a:r>
            <a:r>
              <a:rPr lang="en-IN" sz="9600" dirty="0">
                <a:latin typeface="Times New Roman" panose="02020603050405020304" pitchFamily="18" charset="0"/>
                <a:cs typeface="Times New Roman" panose="02020603050405020304" pitchFamily="18" charset="0"/>
              </a:rPr>
              <a:t> aims to address this problem by making personal cloud storage more environmentally responsible and resource-efficient.</a:t>
            </a:r>
          </a:p>
          <a:p>
            <a:pPr marL="0" indent="0">
              <a:buNone/>
            </a:pPr>
            <a:r>
              <a:rPr lang="en-IN" sz="9600" b="1" dirty="0"/>
              <a:t>Example</a:t>
            </a:r>
          </a:p>
          <a:p>
            <a:pPr marL="0" indent="0">
              <a:buNone/>
            </a:pPr>
            <a:r>
              <a:rPr lang="en-IN" sz="9600" dirty="0">
                <a:latin typeface="Times New Roman" panose="02020603050405020304" pitchFamily="18" charset="0"/>
                <a:cs typeface="Times New Roman" panose="02020603050405020304" pitchFamily="18" charset="0"/>
              </a:rPr>
              <a:t>Suppose a student stores </a:t>
            </a:r>
            <a:r>
              <a:rPr lang="en-IN" sz="9600" b="1" dirty="0">
                <a:latin typeface="Times New Roman" panose="02020603050405020304" pitchFamily="18" charset="0"/>
                <a:cs typeface="Times New Roman" panose="02020603050405020304" pitchFamily="18" charset="0"/>
              </a:rPr>
              <a:t>100 GB of photos, videos, and documents</a:t>
            </a:r>
            <a:r>
              <a:rPr lang="en-IN" sz="9600" dirty="0">
                <a:latin typeface="Times New Roman" panose="02020603050405020304" pitchFamily="18" charset="0"/>
                <a:cs typeface="Times New Roman" panose="02020603050405020304" pitchFamily="18" charset="0"/>
              </a:rPr>
              <a:t> in cloud storage. These files are stored in data </a:t>
            </a:r>
            <a:r>
              <a:rPr lang="en-IN" sz="9600" dirty="0" err="1">
                <a:latin typeface="Times New Roman" panose="02020603050405020304" pitchFamily="18" charset="0"/>
                <a:cs typeface="Times New Roman" panose="02020603050405020304" pitchFamily="18" charset="0"/>
              </a:rPr>
              <a:t>centers</a:t>
            </a:r>
            <a:r>
              <a:rPr lang="en-IN" sz="9600" dirty="0">
                <a:latin typeface="Times New Roman" panose="02020603050405020304" pitchFamily="18" charset="0"/>
                <a:cs typeface="Times New Roman" panose="02020603050405020304" pitchFamily="18" charset="0"/>
              </a:rPr>
              <a:t> that need electricity to operate. If unnecessary or duplicate files are stored, more storage and energy may be used, which can increase carbon emissions</a:t>
            </a:r>
            <a:r>
              <a:rPr lang="en-IN" sz="9600" dirty="0"/>
              <a:t>.</a:t>
            </a:r>
          </a:p>
          <a:p>
            <a:pPr marL="0" indent="0">
              <a:buNone/>
            </a:pPr>
            <a:endParaRPr lang="en-IN" sz="9600"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4" name="Date Placeholder 3">
            <a:extLst>
              <a:ext uri="{FF2B5EF4-FFF2-40B4-BE49-F238E27FC236}">
                <a16:creationId xmlns:a16="http://schemas.microsoft.com/office/drawing/2014/main" id="{12623356-AC4E-3FB8-A016-604AFB0615F9}"/>
              </a:ext>
            </a:extLst>
          </p:cNvPr>
          <p:cNvSpPr>
            <a:spLocks noGrp="1"/>
          </p:cNvSpPr>
          <p:nvPr>
            <p:ph type="dt" sz="half" idx="10"/>
          </p:nvPr>
        </p:nvSpPr>
        <p:spPr/>
        <p:txBody>
          <a:bodyPr/>
          <a:lstStyle/>
          <a:p>
            <a:fld id="{29E51366-F120-485B-BFAB-74B135FFE3B4}" type="datetime1">
              <a:rPr lang="en-IN" smtClean="0"/>
              <a:t>30-09-2026</a:t>
            </a:fld>
            <a:endParaRPr lang="en-IN" dirty="0"/>
          </a:p>
        </p:txBody>
      </p:sp>
      <p:sp>
        <p:nvSpPr>
          <p:cNvPr id="5" name="Footer Placeholder 4">
            <a:extLst>
              <a:ext uri="{FF2B5EF4-FFF2-40B4-BE49-F238E27FC236}">
                <a16:creationId xmlns:a16="http://schemas.microsoft.com/office/drawing/2014/main" id="{2D0FDDB5-A2A2-49AE-9246-0AC9BC023BF0}"/>
              </a:ext>
            </a:extLst>
          </p:cNvPr>
          <p:cNvSpPr>
            <a:spLocks noGrp="1"/>
          </p:cNvSpPr>
          <p:nvPr>
            <p:ph type="ftr" sz="quarter" idx="11"/>
          </p:nvPr>
        </p:nvSpPr>
        <p:spPr/>
        <p:txBody>
          <a:bodyPr/>
          <a:lstStyle/>
          <a:p>
            <a:r>
              <a:rPr lang="en-IN"/>
              <a:t>IDEA Day Presentation (2025-26)</a:t>
            </a:r>
          </a:p>
        </p:txBody>
      </p:sp>
      <p:cxnSp>
        <p:nvCxnSpPr>
          <p:cNvPr id="9" name="Straight Connector 8">
            <a:extLst>
              <a:ext uri="{FF2B5EF4-FFF2-40B4-BE49-F238E27FC236}">
                <a16:creationId xmlns:a16="http://schemas.microsoft.com/office/drawing/2014/main" id="{8D5E5389-8DC0-7EC6-A8EC-6821F45DEEDD}"/>
              </a:ext>
            </a:extLst>
          </p:cNvPr>
          <p:cNvCxnSpPr>
            <a:cxnSpLocks/>
          </p:cNvCxnSpPr>
          <p:nvPr/>
        </p:nvCxnSpPr>
        <p:spPr>
          <a:xfrm rot="5400000">
            <a:off x="-1737091" y="2693815"/>
            <a:ext cx="481831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99FBCB60-44AC-C92D-1810-7F8BA164CDD2}"/>
              </a:ext>
            </a:extLst>
          </p:cNvPr>
          <p:cNvSpPr/>
          <p:nvPr/>
        </p:nvSpPr>
        <p:spPr>
          <a:xfrm rot="5400000">
            <a:off x="3395166" y="-1071125"/>
            <a:ext cx="45719" cy="4965105"/>
          </a:xfrm>
          <a:prstGeom prst="roundRect">
            <a:avLst>
              <a:gd name="adj" fmla="val 0"/>
            </a:avLst>
          </a:prstGeom>
          <a:solidFill>
            <a:srgbClr val="D43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Slide Number Placeholder 5">
            <a:extLst>
              <a:ext uri="{FF2B5EF4-FFF2-40B4-BE49-F238E27FC236}">
                <a16:creationId xmlns:a16="http://schemas.microsoft.com/office/drawing/2014/main" id="{CC8EFFCC-2377-4B6B-BB47-F254F00EAB31}"/>
              </a:ext>
            </a:extLst>
          </p:cNvPr>
          <p:cNvSpPr>
            <a:spLocks noGrp="1"/>
          </p:cNvSpPr>
          <p:nvPr>
            <p:ph type="sldNum" sz="quarter" idx="12"/>
          </p:nvPr>
        </p:nvSpPr>
        <p:spPr/>
        <p:txBody>
          <a:bodyPr/>
          <a:lstStyle/>
          <a:p>
            <a:fld id="{9C902771-8627-4730-8F5A-2C051D1E05D5}" type="slidenum">
              <a:rPr lang="en-IN" smtClean="0"/>
              <a:t>2</a:t>
            </a:fld>
            <a:endParaRPr lang="en-IN"/>
          </a:p>
        </p:txBody>
      </p:sp>
    </p:spTree>
    <p:extLst>
      <p:ext uri="{BB962C8B-B14F-4D97-AF65-F5344CB8AC3E}">
        <p14:creationId xmlns:p14="http://schemas.microsoft.com/office/powerpoint/2010/main" val="30188066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BB016-EE09-06C6-5ED2-CC4BBE4D6461}"/>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Importance &amp; Relevance</a:t>
            </a:r>
          </a:p>
        </p:txBody>
      </p:sp>
      <p:sp>
        <p:nvSpPr>
          <p:cNvPr id="3" name="Content Placeholder 2">
            <a:extLst>
              <a:ext uri="{FF2B5EF4-FFF2-40B4-BE49-F238E27FC236}">
                <a16:creationId xmlns:a16="http://schemas.microsoft.com/office/drawing/2014/main" id="{2A490C8A-7CA0-0101-BF58-C59371714B4D}"/>
              </a:ext>
            </a:extLst>
          </p:cNvPr>
          <p:cNvSpPr>
            <a:spLocks noGrp="1"/>
          </p:cNvSpPr>
          <p:nvPr>
            <p:ph idx="1"/>
          </p:nvPr>
        </p:nvSpPr>
        <p:spPr/>
        <p:txBody>
          <a:bodyPr>
            <a:normAutofit fontScale="85000" lnSpcReduction="10000"/>
          </a:bodyPr>
          <a:lstStyle/>
          <a:p>
            <a:pPr marL="0" indent="0">
              <a:buNone/>
            </a:pPr>
            <a:r>
              <a:rPr lang="en-IN" b="1" dirty="0">
                <a:latin typeface="Times New Roman" panose="02020603050405020304" pitchFamily="18" charset="0"/>
                <a:cs typeface="Times New Roman" panose="02020603050405020304" pitchFamily="18" charset="0"/>
              </a:rPr>
              <a:t>Why is this Problem Important?</a:t>
            </a:r>
          </a:p>
          <a:p>
            <a:pPr lvl="0"/>
            <a:r>
              <a:rPr lang="en-IN" dirty="0">
                <a:latin typeface="Times New Roman" panose="02020603050405020304" pitchFamily="18" charset="0"/>
                <a:cs typeface="Times New Roman" panose="02020603050405020304" pitchFamily="18" charset="0"/>
              </a:rPr>
              <a:t>Cloud storage consumes electricity, which can contribute to carbon emissions. </a:t>
            </a:r>
          </a:p>
          <a:p>
            <a:pPr lvl="0"/>
            <a:r>
              <a:rPr lang="en-IN" dirty="0">
                <a:latin typeface="Times New Roman" panose="02020603050405020304" pitchFamily="18" charset="0"/>
                <a:cs typeface="Times New Roman" panose="02020603050405020304" pitchFamily="18" charset="0"/>
              </a:rPr>
              <a:t>Users need a way to store data while reducing unnecessary energy and carbon impact. </a:t>
            </a:r>
          </a:p>
          <a:p>
            <a:pPr marL="0" indent="0">
              <a:buNone/>
            </a:pPr>
            <a:r>
              <a:rPr lang="en-IN" b="1" dirty="0">
                <a:latin typeface="Times New Roman" panose="02020603050405020304" pitchFamily="18" charset="0"/>
                <a:cs typeface="Times New Roman" panose="02020603050405020304" pitchFamily="18" charset="0"/>
              </a:rPr>
              <a:t>Who Faces This Problem?</a:t>
            </a:r>
          </a:p>
          <a:p>
            <a:pPr lvl="0"/>
            <a:r>
              <a:rPr lang="en-IN" dirty="0">
                <a:latin typeface="Times New Roman" panose="02020603050405020304" pitchFamily="18" charset="0"/>
                <a:cs typeface="Times New Roman" panose="02020603050405020304" pitchFamily="18" charset="0"/>
              </a:rPr>
              <a:t>Students and individuals storing photos, videos, documents, and backups. </a:t>
            </a:r>
          </a:p>
          <a:p>
            <a:pPr lvl="0"/>
            <a:r>
              <a:rPr lang="en-IN" dirty="0">
                <a:latin typeface="Times New Roman" panose="02020603050405020304" pitchFamily="18" charset="0"/>
                <a:cs typeface="Times New Roman" panose="02020603050405020304" pitchFamily="18" charset="0"/>
              </a:rPr>
              <a:t>Small businesses and regular cloud users storing large amounts of data. </a:t>
            </a:r>
          </a:p>
          <a:p>
            <a:pPr marL="0" indent="0">
              <a:buNone/>
            </a:pPr>
            <a:r>
              <a:rPr lang="en-IN" b="1" dirty="0">
                <a:latin typeface="Times New Roman" panose="02020603050405020304" pitchFamily="18" charset="0"/>
                <a:cs typeface="Times New Roman" panose="02020603050405020304" pitchFamily="18" charset="0"/>
              </a:rPr>
              <a:t>What Happens If It Is Not Solved?</a:t>
            </a:r>
          </a:p>
          <a:p>
            <a:pPr lvl="0"/>
            <a:r>
              <a:rPr lang="en-IN" dirty="0">
                <a:latin typeface="Times New Roman" panose="02020603050405020304" pitchFamily="18" charset="0"/>
                <a:cs typeface="Times New Roman" panose="02020603050405020304" pitchFamily="18" charset="0"/>
              </a:rPr>
              <a:t>Unnecessary data storage can lead to higher energy consumption and carbon emissions. </a:t>
            </a:r>
          </a:p>
          <a:p>
            <a:pPr lvl="0"/>
            <a:r>
              <a:rPr lang="en-IN" dirty="0">
                <a:latin typeface="Times New Roman" panose="02020603050405020304" pitchFamily="18" charset="0"/>
                <a:cs typeface="Times New Roman" panose="02020603050405020304" pitchFamily="18" charset="0"/>
              </a:rPr>
              <a:t>Users may remain unaware of the environmental impact of their cloud storage. </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6222A0B-45A9-8111-3756-C28A3106C4A4}"/>
              </a:ext>
            </a:extLst>
          </p:cNvPr>
          <p:cNvSpPr>
            <a:spLocks noGrp="1"/>
          </p:cNvSpPr>
          <p:nvPr>
            <p:ph type="dt" sz="half" idx="10"/>
          </p:nvPr>
        </p:nvSpPr>
        <p:spPr/>
        <p:txBody>
          <a:bodyPr/>
          <a:lstStyle/>
          <a:p>
            <a:fld id="{CAC62783-79C1-4A5A-BF9F-DE51CF533A3A}" type="datetime1">
              <a:rPr lang="en-IN" smtClean="0"/>
              <a:t>30-09-2026</a:t>
            </a:fld>
            <a:endParaRPr lang="en-IN"/>
          </a:p>
        </p:txBody>
      </p:sp>
      <p:sp>
        <p:nvSpPr>
          <p:cNvPr id="5" name="Footer Placeholder 4">
            <a:extLst>
              <a:ext uri="{FF2B5EF4-FFF2-40B4-BE49-F238E27FC236}">
                <a16:creationId xmlns:a16="http://schemas.microsoft.com/office/drawing/2014/main" id="{45673A3E-2851-C284-E6A5-450DD9AF6D9A}"/>
              </a:ext>
            </a:extLst>
          </p:cNvPr>
          <p:cNvSpPr>
            <a:spLocks noGrp="1"/>
          </p:cNvSpPr>
          <p:nvPr>
            <p:ph type="ftr" sz="quarter" idx="11"/>
          </p:nvPr>
        </p:nvSpPr>
        <p:spPr/>
        <p:txBody>
          <a:bodyPr/>
          <a:lstStyle/>
          <a:p>
            <a:r>
              <a:rPr lang="en-IN"/>
              <a:t>IDEA Day Presentation (2025-26)</a:t>
            </a:r>
          </a:p>
        </p:txBody>
      </p:sp>
      <p:sp>
        <p:nvSpPr>
          <p:cNvPr id="7" name="Rectangle: Rounded Corners 6">
            <a:extLst>
              <a:ext uri="{FF2B5EF4-FFF2-40B4-BE49-F238E27FC236}">
                <a16:creationId xmlns:a16="http://schemas.microsoft.com/office/drawing/2014/main" id="{564FABFC-5A29-61D9-F4D8-990A2C585520}"/>
              </a:ext>
            </a:extLst>
          </p:cNvPr>
          <p:cNvSpPr/>
          <p:nvPr/>
        </p:nvSpPr>
        <p:spPr>
          <a:xfrm rot="5400000">
            <a:off x="3999382" y="-1675342"/>
            <a:ext cx="45719" cy="6173539"/>
          </a:xfrm>
          <a:prstGeom prst="roundRect">
            <a:avLst>
              <a:gd name="adj" fmla="val 0"/>
            </a:avLst>
          </a:prstGeom>
          <a:solidFill>
            <a:srgbClr val="D43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Slide Number Placeholder 5">
            <a:extLst>
              <a:ext uri="{FF2B5EF4-FFF2-40B4-BE49-F238E27FC236}">
                <a16:creationId xmlns:a16="http://schemas.microsoft.com/office/drawing/2014/main" id="{606AF04F-E660-42D1-AB4D-8E921A8260DD}"/>
              </a:ext>
            </a:extLst>
          </p:cNvPr>
          <p:cNvSpPr>
            <a:spLocks noGrp="1"/>
          </p:cNvSpPr>
          <p:nvPr>
            <p:ph type="sldNum" sz="quarter" idx="12"/>
          </p:nvPr>
        </p:nvSpPr>
        <p:spPr/>
        <p:txBody>
          <a:bodyPr/>
          <a:lstStyle/>
          <a:p>
            <a:fld id="{9C902771-8627-4730-8F5A-2C051D1E05D5}" type="slidenum">
              <a:rPr lang="en-IN" smtClean="0"/>
              <a:t>3</a:t>
            </a:fld>
            <a:endParaRPr lang="en-IN"/>
          </a:p>
        </p:txBody>
      </p:sp>
    </p:spTree>
    <p:extLst>
      <p:ext uri="{BB962C8B-B14F-4D97-AF65-F5344CB8AC3E}">
        <p14:creationId xmlns:p14="http://schemas.microsoft.com/office/powerpoint/2010/main" val="42882153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E5650-ACA6-5335-7E07-E33AFACE74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2F37DE-37AB-5B0E-8FD2-61E9352B5AF9}"/>
              </a:ext>
            </a:extLst>
          </p:cNvPr>
          <p:cNvSpPr>
            <a:spLocks noGrp="1"/>
          </p:cNvSpPr>
          <p:nvPr>
            <p:ph type="title"/>
          </p:nvPr>
        </p:nvSpPr>
        <p:spPr>
          <a:xfrm>
            <a:off x="838200" y="546847"/>
            <a:ext cx="10515600" cy="1143841"/>
          </a:xfrm>
        </p:spPr>
        <p:txBody>
          <a:bodyPr/>
          <a:lstStyle/>
          <a:p>
            <a:r>
              <a:rPr lang="en-IN" b="1" dirty="0">
                <a:latin typeface="Times New Roman" panose="02020603050405020304" pitchFamily="18" charset="0"/>
                <a:cs typeface="Times New Roman" panose="02020603050405020304" pitchFamily="18" charset="0"/>
              </a:rPr>
              <a:t>Proposed Solution</a:t>
            </a:r>
          </a:p>
        </p:txBody>
      </p:sp>
      <p:sp>
        <p:nvSpPr>
          <p:cNvPr id="3" name="Content Placeholder 2">
            <a:extLst>
              <a:ext uri="{FF2B5EF4-FFF2-40B4-BE49-F238E27FC236}">
                <a16:creationId xmlns:a16="http://schemas.microsoft.com/office/drawing/2014/main" id="{81CF97AE-9EEE-4C27-BDA3-D61CE98D098D}"/>
              </a:ext>
            </a:extLst>
          </p:cNvPr>
          <p:cNvSpPr>
            <a:spLocks noGrp="1"/>
          </p:cNvSpPr>
          <p:nvPr>
            <p:ph idx="1"/>
          </p:nvPr>
        </p:nvSpPr>
        <p:spPr/>
        <p:txBody>
          <a:bodyPr>
            <a:normAutofit fontScale="85000" lnSpcReduction="20000"/>
          </a:bodyPr>
          <a:lstStyle/>
          <a:p>
            <a:pPr marL="0" lvl="0" indent="0">
              <a:buNone/>
            </a:pPr>
            <a:r>
              <a:rPr lang="en-IN" dirty="0">
                <a:latin typeface="Times New Roman" panose="02020603050405020304" pitchFamily="18" charset="0"/>
                <a:cs typeface="Times New Roman" panose="02020603050405020304" pitchFamily="18" charset="0"/>
              </a:rPr>
              <a:t>Green Cloud is a carbon-aware personal cloud storage system that helps users store and manage their files efficiently. </a:t>
            </a:r>
          </a:p>
          <a:p>
            <a:pPr lvl="0"/>
            <a:r>
              <a:rPr lang="en-IN" dirty="0">
                <a:latin typeface="Times New Roman" panose="02020603050405020304" pitchFamily="18" charset="0"/>
                <a:cs typeface="Times New Roman" panose="02020603050405020304" pitchFamily="18" charset="0"/>
              </a:rPr>
              <a:t>It considers energy consumption and carbon impact while managing cloud storage. </a:t>
            </a:r>
          </a:p>
          <a:p>
            <a:pPr lvl="0"/>
            <a:r>
              <a:rPr lang="en-IN" dirty="0">
                <a:latin typeface="Times New Roman" panose="02020603050405020304" pitchFamily="18" charset="0"/>
                <a:cs typeface="Times New Roman" panose="02020603050405020304" pitchFamily="18" charset="0"/>
              </a:rPr>
              <a:t>Identifies unnecessary or duplicate files to reduce storage usage. </a:t>
            </a:r>
          </a:p>
          <a:p>
            <a:pPr lvl="0"/>
            <a:r>
              <a:rPr lang="en-IN" dirty="0">
                <a:latin typeface="Times New Roman" panose="02020603050405020304" pitchFamily="18" charset="0"/>
                <a:cs typeface="Times New Roman" panose="02020603050405020304" pitchFamily="18" charset="0"/>
              </a:rPr>
              <a:t>Helps users make carbon-aware storage decisions and reduce unnecessary resource consumption. </a:t>
            </a:r>
          </a:p>
          <a:p>
            <a:pPr marL="0" indent="0">
              <a:buNone/>
            </a:pPr>
            <a:r>
              <a:rPr lang="en-IN" b="1" dirty="0">
                <a:latin typeface="Times New Roman" panose="02020603050405020304" pitchFamily="18" charset="0"/>
                <a:cs typeface="Times New Roman" panose="02020603050405020304" pitchFamily="18" charset="0"/>
              </a:rPr>
              <a:t>Approach</a:t>
            </a:r>
          </a:p>
          <a:p>
            <a:pPr marL="0" indent="0">
              <a:buNone/>
            </a:pPr>
            <a:r>
              <a:rPr lang="en-IN" b="1" dirty="0">
                <a:latin typeface="Times New Roman" panose="02020603050405020304" pitchFamily="18" charset="0"/>
                <a:cs typeface="Times New Roman" panose="02020603050405020304" pitchFamily="18" charset="0"/>
              </a:rPr>
              <a:t>Software-based system</a:t>
            </a:r>
            <a:endParaRPr lang="en-IN"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Frontend:</a:t>
            </a:r>
            <a:r>
              <a:rPr lang="en-IN" dirty="0">
                <a:latin typeface="Times New Roman" panose="02020603050405020304" pitchFamily="18" charset="0"/>
                <a:cs typeface="Times New Roman" panose="02020603050405020304" pitchFamily="18" charset="0"/>
              </a:rPr>
              <a:t> User interface for uploading and managing files. </a:t>
            </a:r>
          </a:p>
          <a:p>
            <a:pPr lvl="0"/>
            <a:r>
              <a:rPr lang="en-IN" b="1" dirty="0">
                <a:latin typeface="Times New Roman" panose="02020603050405020304" pitchFamily="18" charset="0"/>
                <a:cs typeface="Times New Roman" panose="02020603050405020304" pitchFamily="18" charset="0"/>
              </a:rPr>
              <a:t>Backend:</a:t>
            </a:r>
            <a:r>
              <a:rPr lang="en-IN" dirty="0">
                <a:latin typeface="Times New Roman" panose="02020603050405020304" pitchFamily="18" charset="0"/>
                <a:cs typeface="Times New Roman" panose="02020603050405020304" pitchFamily="18" charset="0"/>
              </a:rPr>
              <a:t> Handles file storage, user data, and storage management. </a:t>
            </a:r>
          </a:p>
          <a:p>
            <a:pPr lvl="0"/>
            <a:r>
              <a:rPr lang="en-IN" b="1" dirty="0">
                <a:latin typeface="Times New Roman" panose="02020603050405020304" pitchFamily="18" charset="0"/>
                <a:cs typeface="Times New Roman" panose="02020603050405020304" pitchFamily="18" charset="0"/>
              </a:rPr>
              <a:t>Carbon Monitor:</a:t>
            </a:r>
            <a:r>
              <a:rPr lang="en-IN" dirty="0">
                <a:latin typeface="Times New Roman" panose="02020603050405020304" pitchFamily="18" charset="0"/>
                <a:cs typeface="Times New Roman" panose="02020603050405020304" pitchFamily="18" charset="0"/>
              </a:rPr>
              <a:t> Estimates the carbon impact of storage activities. </a:t>
            </a:r>
          </a:p>
          <a:p>
            <a:pPr lvl="0"/>
            <a:r>
              <a:rPr lang="en-IN" b="1" dirty="0">
                <a:latin typeface="Times New Roman" panose="02020603050405020304" pitchFamily="18" charset="0"/>
                <a:cs typeface="Times New Roman" panose="02020603050405020304" pitchFamily="18" charset="0"/>
              </a:rPr>
              <a:t>Cloud Storage:</a:t>
            </a:r>
            <a:r>
              <a:rPr lang="en-IN" dirty="0">
                <a:latin typeface="Times New Roman" panose="02020603050405020304" pitchFamily="18" charset="0"/>
                <a:cs typeface="Times New Roman" panose="02020603050405020304" pitchFamily="18" charset="0"/>
              </a:rPr>
              <a:t> Stores and provides access to user files.</a:t>
            </a:r>
          </a:p>
          <a:p>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B28A57F-7EAF-B880-6FBF-38E3751C25A4}"/>
              </a:ext>
            </a:extLst>
          </p:cNvPr>
          <p:cNvSpPr>
            <a:spLocks noGrp="1"/>
          </p:cNvSpPr>
          <p:nvPr>
            <p:ph type="dt" sz="half" idx="10"/>
          </p:nvPr>
        </p:nvSpPr>
        <p:spPr/>
        <p:txBody>
          <a:bodyPr/>
          <a:lstStyle/>
          <a:p>
            <a:fld id="{07F9F7DA-2664-4631-A708-7F3C4B7C2932}" type="datetime1">
              <a:rPr lang="en-IN" smtClean="0"/>
              <a:t>30-09-2026</a:t>
            </a:fld>
            <a:endParaRPr lang="en-IN"/>
          </a:p>
        </p:txBody>
      </p:sp>
      <p:sp>
        <p:nvSpPr>
          <p:cNvPr id="5" name="Footer Placeholder 4">
            <a:extLst>
              <a:ext uri="{FF2B5EF4-FFF2-40B4-BE49-F238E27FC236}">
                <a16:creationId xmlns:a16="http://schemas.microsoft.com/office/drawing/2014/main" id="{4ED1EA51-28B4-38CD-F52B-66AAB9269F9A}"/>
              </a:ext>
            </a:extLst>
          </p:cNvPr>
          <p:cNvSpPr>
            <a:spLocks noGrp="1"/>
          </p:cNvSpPr>
          <p:nvPr>
            <p:ph type="ftr" sz="quarter" idx="11"/>
          </p:nvPr>
        </p:nvSpPr>
        <p:spPr/>
        <p:txBody>
          <a:bodyPr/>
          <a:lstStyle/>
          <a:p>
            <a:r>
              <a:rPr lang="en-IN"/>
              <a:t>IDEA Day Presentation (2025-26)</a:t>
            </a:r>
          </a:p>
        </p:txBody>
      </p:sp>
      <p:cxnSp>
        <p:nvCxnSpPr>
          <p:cNvPr id="9" name="Straight Connector 8">
            <a:extLst>
              <a:ext uri="{FF2B5EF4-FFF2-40B4-BE49-F238E27FC236}">
                <a16:creationId xmlns:a16="http://schemas.microsoft.com/office/drawing/2014/main" id="{72E136EE-7334-37F1-BF71-DE19526FB3C5}"/>
              </a:ext>
            </a:extLst>
          </p:cNvPr>
          <p:cNvCxnSpPr>
            <a:cxnSpLocks/>
          </p:cNvCxnSpPr>
          <p:nvPr/>
        </p:nvCxnSpPr>
        <p:spPr>
          <a:xfrm rot="5400000">
            <a:off x="-1737091" y="2693815"/>
            <a:ext cx="481831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50550EF5-C245-FBF6-5538-2F7AF632B4AB}"/>
              </a:ext>
            </a:extLst>
          </p:cNvPr>
          <p:cNvSpPr/>
          <p:nvPr/>
        </p:nvSpPr>
        <p:spPr>
          <a:xfrm rot="5400000">
            <a:off x="3395166" y="-1071125"/>
            <a:ext cx="45719" cy="4965105"/>
          </a:xfrm>
          <a:prstGeom prst="roundRect">
            <a:avLst>
              <a:gd name="adj" fmla="val 0"/>
            </a:avLst>
          </a:prstGeom>
          <a:solidFill>
            <a:srgbClr val="D43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Slide Number Placeholder 5">
            <a:extLst>
              <a:ext uri="{FF2B5EF4-FFF2-40B4-BE49-F238E27FC236}">
                <a16:creationId xmlns:a16="http://schemas.microsoft.com/office/drawing/2014/main" id="{0DA9102E-8EB2-452C-AE36-D9584E21F4B2}"/>
              </a:ext>
            </a:extLst>
          </p:cNvPr>
          <p:cNvSpPr>
            <a:spLocks noGrp="1"/>
          </p:cNvSpPr>
          <p:nvPr>
            <p:ph type="sldNum" sz="quarter" idx="12"/>
          </p:nvPr>
        </p:nvSpPr>
        <p:spPr/>
        <p:txBody>
          <a:bodyPr/>
          <a:lstStyle/>
          <a:p>
            <a:fld id="{9C902771-8627-4730-8F5A-2C051D1E05D5}" type="slidenum">
              <a:rPr lang="en-IN" smtClean="0"/>
              <a:t>4</a:t>
            </a:fld>
            <a:endParaRPr lang="en-IN"/>
          </a:p>
        </p:txBody>
      </p:sp>
    </p:spTree>
    <p:extLst>
      <p:ext uri="{BB962C8B-B14F-4D97-AF65-F5344CB8AC3E}">
        <p14:creationId xmlns:p14="http://schemas.microsoft.com/office/powerpoint/2010/main" val="113791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DDE07-2DE6-59DE-5578-9AB6BE6B38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8C2771-CB75-6B5A-8761-80FB4E12952A}"/>
              </a:ext>
            </a:extLst>
          </p:cNvPr>
          <p:cNvSpPr>
            <a:spLocks noGrp="1"/>
          </p:cNvSpPr>
          <p:nvPr>
            <p:ph type="title"/>
          </p:nvPr>
        </p:nvSpPr>
        <p:spPr>
          <a:xfrm>
            <a:off x="881595" y="502397"/>
            <a:ext cx="10515600" cy="1143841"/>
          </a:xfrm>
        </p:spPr>
        <p:txBody>
          <a:bodyPr/>
          <a:lstStyle/>
          <a:p>
            <a:r>
              <a:rPr lang="en-IN" b="1" dirty="0">
                <a:latin typeface="Times New Roman" panose="02020603050405020304" pitchFamily="18" charset="0"/>
                <a:cs typeface="Times New Roman" panose="02020603050405020304" pitchFamily="18" charset="0"/>
              </a:rPr>
              <a:t>Key Features &amp; Uniqueness</a:t>
            </a:r>
          </a:p>
        </p:txBody>
      </p:sp>
      <p:sp>
        <p:nvSpPr>
          <p:cNvPr id="3" name="Content Placeholder 2">
            <a:extLst>
              <a:ext uri="{FF2B5EF4-FFF2-40B4-BE49-F238E27FC236}">
                <a16:creationId xmlns:a16="http://schemas.microsoft.com/office/drawing/2014/main" id="{25A37401-F00A-6B6E-67C4-6A28E187F9FF}"/>
              </a:ext>
            </a:extLst>
          </p:cNvPr>
          <p:cNvSpPr>
            <a:spLocks noGrp="1"/>
          </p:cNvSpPr>
          <p:nvPr>
            <p:ph idx="1"/>
          </p:nvPr>
        </p:nvSpPr>
        <p:spPr/>
        <p:txBody>
          <a:bodyPr>
            <a:normAutofit lnSpcReduction="10000"/>
          </a:bodyPr>
          <a:lstStyle/>
          <a:p>
            <a:pPr lvl="0"/>
            <a:r>
              <a:rPr lang="en-IN" b="1" dirty="0">
                <a:latin typeface="Times New Roman" panose="02020603050405020304" pitchFamily="18" charset="0"/>
                <a:cs typeface="Times New Roman" panose="02020603050405020304" pitchFamily="18" charset="0"/>
              </a:rPr>
              <a:t>Carbon-Aware Storage </a:t>
            </a:r>
            <a:r>
              <a:rPr lang="en-IN" dirty="0">
                <a:latin typeface="Times New Roman" panose="02020603050405020304" pitchFamily="18" charset="0"/>
                <a:cs typeface="Times New Roman" panose="02020603050405020304" pitchFamily="18" charset="0"/>
              </a:rPr>
              <a:t>– Considers the carbon impact of storing and accessing data. </a:t>
            </a:r>
          </a:p>
          <a:p>
            <a:pPr lvl="0"/>
            <a:r>
              <a:rPr lang="en-IN" b="1" dirty="0">
                <a:latin typeface="Times New Roman" panose="02020603050405020304" pitchFamily="18" charset="0"/>
                <a:cs typeface="Times New Roman" panose="02020603050405020304" pitchFamily="18" charset="0"/>
              </a:rPr>
              <a:t>Smart Data Management </a:t>
            </a:r>
            <a:r>
              <a:rPr lang="en-IN" dirty="0">
                <a:latin typeface="Times New Roman" panose="02020603050405020304" pitchFamily="18" charset="0"/>
                <a:cs typeface="Times New Roman" panose="02020603050405020304" pitchFamily="18" charset="0"/>
              </a:rPr>
              <a:t>– Identifies unnecessary or duplicate files to reduce storage usage. </a:t>
            </a:r>
          </a:p>
          <a:p>
            <a:pPr lvl="0"/>
            <a:r>
              <a:rPr lang="en-IN" b="1" dirty="0">
                <a:latin typeface="Times New Roman" panose="02020603050405020304" pitchFamily="18" charset="0"/>
                <a:cs typeface="Times New Roman" panose="02020603050405020304" pitchFamily="18" charset="0"/>
              </a:rPr>
              <a:t>Energy Efficient </a:t>
            </a:r>
            <a:r>
              <a:rPr lang="en-IN" dirty="0">
                <a:latin typeface="Times New Roman" panose="02020603050405020304" pitchFamily="18" charset="0"/>
                <a:cs typeface="Times New Roman" panose="02020603050405020304" pitchFamily="18" charset="0"/>
              </a:rPr>
              <a:t>– Aims to reduce unnecessary energy consumption through efficient resource usage. </a:t>
            </a:r>
          </a:p>
          <a:p>
            <a:pPr lvl="0"/>
            <a:r>
              <a:rPr lang="en-IN" b="1" dirty="0">
                <a:latin typeface="Times New Roman" panose="02020603050405020304" pitchFamily="18" charset="0"/>
                <a:cs typeface="Times New Roman" panose="02020603050405020304" pitchFamily="18" charset="0"/>
              </a:rPr>
              <a:t>Personal Cloud Storage </a:t>
            </a:r>
            <a:r>
              <a:rPr lang="en-IN" dirty="0">
                <a:latin typeface="Times New Roman" panose="02020603050405020304" pitchFamily="18" charset="0"/>
                <a:cs typeface="Times New Roman" panose="02020603050405020304" pitchFamily="18" charset="0"/>
              </a:rPr>
              <a:t>– Allows users to securely store and access their files anytime. </a:t>
            </a:r>
          </a:p>
          <a:p>
            <a:pPr lvl="0"/>
            <a:r>
              <a:rPr lang="en-IN" b="1" dirty="0">
                <a:latin typeface="Times New Roman" panose="02020603050405020304" pitchFamily="18" charset="0"/>
                <a:cs typeface="Times New Roman" panose="02020603050405020304" pitchFamily="18" charset="0"/>
              </a:rPr>
              <a:t>Environment Friendly </a:t>
            </a:r>
            <a:r>
              <a:rPr lang="en-IN" dirty="0">
                <a:latin typeface="Times New Roman" panose="02020603050405020304" pitchFamily="18" charset="0"/>
                <a:cs typeface="Times New Roman" panose="02020603050405020304" pitchFamily="18" charset="0"/>
              </a:rPr>
              <a:t>– Focuses on both personal data storage and environmental impact, unlike traditional storage systems.</a:t>
            </a:r>
          </a:p>
          <a:p>
            <a:endParaRPr lang="en-IN" i="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84D71B3-57E5-C720-954D-8D2B914B27AA}"/>
              </a:ext>
            </a:extLst>
          </p:cNvPr>
          <p:cNvSpPr>
            <a:spLocks noGrp="1"/>
          </p:cNvSpPr>
          <p:nvPr>
            <p:ph type="dt" sz="half" idx="10"/>
          </p:nvPr>
        </p:nvSpPr>
        <p:spPr/>
        <p:txBody>
          <a:bodyPr/>
          <a:lstStyle/>
          <a:p>
            <a:fld id="{A555697C-1B3F-4F1C-8D42-DEBEC3B0810B}" type="datetime1">
              <a:rPr lang="en-IN" smtClean="0"/>
              <a:t>30-09-2026</a:t>
            </a:fld>
            <a:endParaRPr lang="en-IN"/>
          </a:p>
        </p:txBody>
      </p:sp>
      <p:sp>
        <p:nvSpPr>
          <p:cNvPr id="5" name="Footer Placeholder 4">
            <a:extLst>
              <a:ext uri="{FF2B5EF4-FFF2-40B4-BE49-F238E27FC236}">
                <a16:creationId xmlns:a16="http://schemas.microsoft.com/office/drawing/2014/main" id="{2525DCB6-B14F-D972-AA83-A8F24A50C139}"/>
              </a:ext>
            </a:extLst>
          </p:cNvPr>
          <p:cNvSpPr>
            <a:spLocks noGrp="1"/>
          </p:cNvSpPr>
          <p:nvPr>
            <p:ph type="ftr" sz="quarter" idx="11"/>
          </p:nvPr>
        </p:nvSpPr>
        <p:spPr/>
        <p:txBody>
          <a:bodyPr/>
          <a:lstStyle/>
          <a:p>
            <a:r>
              <a:rPr lang="en-IN"/>
              <a:t>IDEA Day Presentation (2025-26)</a:t>
            </a:r>
          </a:p>
        </p:txBody>
      </p:sp>
      <p:cxnSp>
        <p:nvCxnSpPr>
          <p:cNvPr id="9" name="Straight Connector 8">
            <a:extLst>
              <a:ext uri="{FF2B5EF4-FFF2-40B4-BE49-F238E27FC236}">
                <a16:creationId xmlns:a16="http://schemas.microsoft.com/office/drawing/2014/main" id="{1D0B4BEA-FDD3-D037-0B8E-10AADD1A11EA}"/>
              </a:ext>
            </a:extLst>
          </p:cNvPr>
          <p:cNvCxnSpPr>
            <a:cxnSpLocks/>
          </p:cNvCxnSpPr>
          <p:nvPr/>
        </p:nvCxnSpPr>
        <p:spPr>
          <a:xfrm rot="5400000">
            <a:off x="-1737091" y="2693815"/>
            <a:ext cx="481831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DB0A34D1-0553-459E-0905-9EB9770F162C}"/>
              </a:ext>
            </a:extLst>
          </p:cNvPr>
          <p:cNvSpPr/>
          <p:nvPr/>
        </p:nvSpPr>
        <p:spPr>
          <a:xfrm rot="5400000">
            <a:off x="3395166" y="-1071125"/>
            <a:ext cx="45719" cy="4965105"/>
          </a:xfrm>
          <a:prstGeom prst="roundRect">
            <a:avLst>
              <a:gd name="adj" fmla="val 0"/>
            </a:avLst>
          </a:prstGeom>
          <a:solidFill>
            <a:srgbClr val="D43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Slide Number Placeholder 5">
            <a:extLst>
              <a:ext uri="{FF2B5EF4-FFF2-40B4-BE49-F238E27FC236}">
                <a16:creationId xmlns:a16="http://schemas.microsoft.com/office/drawing/2014/main" id="{999A4931-558B-41BB-BCC2-B2E85B9578F8}"/>
              </a:ext>
            </a:extLst>
          </p:cNvPr>
          <p:cNvSpPr>
            <a:spLocks noGrp="1"/>
          </p:cNvSpPr>
          <p:nvPr>
            <p:ph type="sldNum" sz="quarter" idx="12"/>
          </p:nvPr>
        </p:nvSpPr>
        <p:spPr/>
        <p:txBody>
          <a:bodyPr/>
          <a:lstStyle/>
          <a:p>
            <a:fld id="{9C902771-8627-4730-8F5A-2C051D1E05D5}" type="slidenum">
              <a:rPr lang="en-IN" smtClean="0"/>
              <a:t>5</a:t>
            </a:fld>
            <a:endParaRPr lang="en-IN"/>
          </a:p>
        </p:txBody>
      </p:sp>
    </p:spTree>
    <p:extLst>
      <p:ext uri="{BB962C8B-B14F-4D97-AF65-F5344CB8AC3E}">
        <p14:creationId xmlns:p14="http://schemas.microsoft.com/office/powerpoint/2010/main" val="13377076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DDE07-2DE6-59DE-5578-9AB6BE6B38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8C2771-CB75-6B5A-8761-80FB4E12952A}"/>
              </a:ext>
            </a:extLst>
          </p:cNvPr>
          <p:cNvSpPr>
            <a:spLocks noGrp="1"/>
          </p:cNvSpPr>
          <p:nvPr>
            <p:ph type="title"/>
          </p:nvPr>
        </p:nvSpPr>
        <p:spPr>
          <a:xfrm>
            <a:off x="838200" y="546847"/>
            <a:ext cx="10515600" cy="1143841"/>
          </a:xfrm>
        </p:spPr>
        <p:txBody>
          <a:bodyPr/>
          <a:lstStyle/>
          <a:p>
            <a:r>
              <a:rPr lang="en-IN" b="1" dirty="0">
                <a:latin typeface="Times New Roman" panose="02020603050405020304" pitchFamily="18" charset="0"/>
                <a:cs typeface="Times New Roman" panose="02020603050405020304" pitchFamily="18" charset="0"/>
              </a:rPr>
              <a:t>Secondary Research</a:t>
            </a:r>
          </a:p>
        </p:txBody>
      </p:sp>
      <p:sp>
        <p:nvSpPr>
          <p:cNvPr id="3" name="Content Placeholder 2">
            <a:extLst>
              <a:ext uri="{FF2B5EF4-FFF2-40B4-BE49-F238E27FC236}">
                <a16:creationId xmlns:a16="http://schemas.microsoft.com/office/drawing/2014/main" id="{25A37401-F00A-6B6E-67C4-6A28E187F9FF}"/>
              </a:ext>
            </a:extLst>
          </p:cNvPr>
          <p:cNvSpPr>
            <a:spLocks noGrp="1"/>
          </p:cNvSpPr>
          <p:nvPr>
            <p:ph idx="1"/>
          </p:nvPr>
        </p:nvSpPr>
        <p:spPr/>
        <p:txBody>
          <a:bodyPr>
            <a:normAutofit/>
          </a:bodyPr>
          <a:lstStyle/>
          <a:p>
            <a:pPr lvl="0"/>
            <a:r>
              <a:rPr lang="en-IN" sz="2400" b="1" dirty="0">
                <a:latin typeface="Times New Roman" panose="02020603050405020304" pitchFamily="18" charset="0"/>
                <a:cs typeface="Times New Roman" panose="02020603050405020304" pitchFamily="18" charset="0"/>
              </a:rPr>
              <a:t>Carbon-Aware Storage:</a:t>
            </a:r>
            <a:r>
              <a:rPr lang="en-IN" sz="2400" dirty="0">
                <a:latin typeface="Times New Roman" panose="02020603050405020304" pitchFamily="18" charset="0"/>
                <a:cs typeface="Times New Roman" panose="02020603050405020304" pitchFamily="18" charset="0"/>
              </a:rPr>
              <a:t> Unlike traditional cloud services such as Google Drive and Dropbox, Green Cloud considers the carbon impact of storage and data access. </a:t>
            </a:r>
          </a:p>
          <a:p>
            <a:pPr lvl="0"/>
            <a:r>
              <a:rPr lang="en-IN" sz="2400" b="1" dirty="0">
                <a:latin typeface="Times New Roman" panose="02020603050405020304" pitchFamily="18" charset="0"/>
                <a:cs typeface="Times New Roman" panose="02020603050405020304" pitchFamily="18" charset="0"/>
              </a:rPr>
              <a:t>Smart Data Management:</a:t>
            </a:r>
            <a:r>
              <a:rPr lang="en-IN" sz="2400" dirty="0">
                <a:latin typeface="Times New Roman" panose="02020603050405020304" pitchFamily="18" charset="0"/>
                <a:cs typeface="Times New Roman" panose="02020603050405020304" pitchFamily="18" charset="0"/>
              </a:rPr>
              <a:t> Green Cloud focuses on identifying unnecessary or duplicate files to reduce storage and resource usage. </a:t>
            </a:r>
          </a:p>
          <a:p>
            <a:pPr lvl="0"/>
            <a:r>
              <a:rPr lang="en-IN" sz="2400" b="1" dirty="0">
                <a:latin typeface="Times New Roman" panose="02020603050405020304" pitchFamily="18" charset="0"/>
                <a:cs typeface="Times New Roman" panose="02020603050405020304" pitchFamily="18" charset="0"/>
              </a:rPr>
              <a:t>Energy Efficiency:</a:t>
            </a:r>
            <a:r>
              <a:rPr lang="en-IN" sz="2400" dirty="0">
                <a:latin typeface="Times New Roman" panose="02020603050405020304" pitchFamily="18" charset="0"/>
                <a:cs typeface="Times New Roman" panose="02020603050405020304" pitchFamily="18" charset="0"/>
              </a:rPr>
              <a:t> Existing solutions mainly focus on storage, speed, and accessibility, while Green Cloud also focuses on efficient energy usage. </a:t>
            </a:r>
          </a:p>
          <a:p>
            <a:pPr lvl="0"/>
            <a:r>
              <a:rPr lang="en-IN" sz="2400" b="1" dirty="0">
                <a:latin typeface="Times New Roman" panose="02020603050405020304" pitchFamily="18" charset="0"/>
                <a:cs typeface="Times New Roman" panose="02020603050405020304" pitchFamily="18" charset="0"/>
              </a:rPr>
              <a:t>Environmental Focus:</a:t>
            </a:r>
            <a:r>
              <a:rPr lang="en-IN" sz="2400" dirty="0">
                <a:latin typeface="Times New Roman" panose="02020603050405020304" pitchFamily="18" charset="0"/>
                <a:cs typeface="Times New Roman" panose="02020603050405020304" pitchFamily="18" charset="0"/>
              </a:rPr>
              <a:t> Green Cloud combines personal cloud storage with carbon awareness, making environmental impact a key part of the system.</a:t>
            </a:r>
          </a:p>
          <a:p>
            <a:endParaRPr lang="en-IN" sz="2400" i="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84D71B3-57E5-C720-954D-8D2B914B27AA}"/>
              </a:ext>
            </a:extLst>
          </p:cNvPr>
          <p:cNvSpPr>
            <a:spLocks noGrp="1"/>
          </p:cNvSpPr>
          <p:nvPr>
            <p:ph type="dt" sz="half" idx="10"/>
          </p:nvPr>
        </p:nvSpPr>
        <p:spPr/>
        <p:txBody>
          <a:bodyPr/>
          <a:lstStyle/>
          <a:p>
            <a:fld id="{9C4934D3-6D7C-46A9-92E7-C1E0F2880814}" type="datetime1">
              <a:rPr lang="en-IN" smtClean="0"/>
              <a:t>30-09-2026</a:t>
            </a:fld>
            <a:endParaRPr lang="en-IN"/>
          </a:p>
        </p:txBody>
      </p:sp>
      <p:sp>
        <p:nvSpPr>
          <p:cNvPr id="5" name="Footer Placeholder 4">
            <a:extLst>
              <a:ext uri="{FF2B5EF4-FFF2-40B4-BE49-F238E27FC236}">
                <a16:creationId xmlns:a16="http://schemas.microsoft.com/office/drawing/2014/main" id="{2525DCB6-B14F-D972-AA83-A8F24A50C139}"/>
              </a:ext>
            </a:extLst>
          </p:cNvPr>
          <p:cNvSpPr>
            <a:spLocks noGrp="1"/>
          </p:cNvSpPr>
          <p:nvPr>
            <p:ph type="ftr" sz="quarter" idx="11"/>
          </p:nvPr>
        </p:nvSpPr>
        <p:spPr/>
        <p:txBody>
          <a:bodyPr/>
          <a:lstStyle/>
          <a:p>
            <a:r>
              <a:rPr lang="en-IN"/>
              <a:t>IDEA Day Presentation (2025-26)</a:t>
            </a:r>
          </a:p>
        </p:txBody>
      </p:sp>
      <p:cxnSp>
        <p:nvCxnSpPr>
          <p:cNvPr id="9" name="Straight Connector 8">
            <a:extLst>
              <a:ext uri="{FF2B5EF4-FFF2-40B4-BE49-F238E27FC236}">
                <a16:creationId xmlns:a16="http://schemas.microsoft.com/office/drawing/2014/main" id="{1D0B4BEA-FDD3-D037-0B8E-10AADD1A11EA}"/>
              </a:ext>
            </a:extLst>
          </p:cNvPr>
          <p:cNvCxnSpPr>
            <a:cxnSpLocks/>
          </p:cNvCxnSpPr>
          <p:nvPr/>
        </p:nvCxnSpPr>
        <p:spPr>
          <a:xfrm rot="5400000">
            <a:off x="-1737091" y="2693815"/>
            <a:ext cx="481831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DB0A34D1-0553-459E-0905-9EB9770F162C}"/>
              </a:ext>
            </a:extLst>
          </p:cNvPr>
          <p:cNvSpPr/>
          <p:nvPr/>
        </p:nvSpPr>
        <p:spPr>
          <a:xfrm rot="5400000">
            <a:off x="3395166" y="-1071125"/>
            <a:ext cx="45719" cy="4965105"/>
          </a:xfrm>
          <a:prstGeom prst="roundRect">
            <a:avLst>
              <a:gd name="adj" fmla="val 0"/>
            </a:avLst>
          </a:prstGeom>
          <a:solidFill>
            <a:srgbClr val="D43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Slide Number Placeholder 5">
            <a:extLst>
              <a:ext uri="{FF2B5EF4-FFF2-40B4-BE49-F238E27FC236}">
                <a16:creationId xmlns:a16="http://schemas.microsoft.com/office/drawing/2014/main" id="{A443A4EE-FB85-4F6A-9132-98982EEF48F7}"/>
              </a:ext>
            </a:extLst>
          </p:cNvPr>
          <p:cNvSpPr>
            <a:spLocks noGrp="1"/>
          </p:cNvSpPr>
          <p:nvPr>
            <p:ph type="sldNum" sz="quarter" idx="12"/>
          </p:nvPr>
        </p:nvSpPr>
        <p:spPr/>
        <p:txBody>
          <a:bodyPr/>
          <a:lstStyle/>
          <a:p>
            <a:fld id="{9C902771-8627-4730-8F5A-2C051D1E05D5}" type="slidenum">
              <a:rPr lang="en-IN" smtClean="0"/>
              <a:t>6</a:t>
            </a:fld>
            <a:endParaRPr lang="en-IN"/>
          </a:p>
        </p:txBody>
      </p:sp>
    </p:spTree>
    <p:extLst>
      <p:ext uri="{BB962C8B-B14F-4D97-AF65-F5344CB8AC3E}">
        <p14:creationId xmlns:p14="http://schemas.microsoft.com/office/powerpoint/2010/main" val="3456438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9C129-BCC6-27EC-022F-C1356CC35D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5D5796-F766-2B7F-161E-DBF7C73A4849}"/>
              </a:ext>
            </a:extLst>
          </p:cNvPr>
          <p:cNvSpPr>
            <a:spLocks noGrp="1"/>
          </p:cNvSpPr>
          <p:nvPr>
            <p:ph type="title"/>
          </p:nvPr>
        </p:nvSpPr>
        <p:spPr>
          <a:xfrm>
            <a:off x="838200" y="546847"/>
            <a:ext cx="10515600" cy="1143841"/>
          </a:xfrm>
        </p:spPr>
        <p:txBody>
          <a:bodyPr/>
          <a:lstStyle/>
          <a:p>
            <a:r>
              <a:rPr lang="en-IN" b="1" dirty="0">
                <a:latin typeface="Times New Roman" panose="02020603050405020304" pitchFamily="18" charset="0"/>
                <a:cs typeface="Times New Roman" panose="02020603050405020304" pitchFamily="18" charset="0"/>
              </a:rPr>
              <a:t>PoC Development Plan</a:t>
            </a:r>
          </a:p>
        </p:txBody>
      </p:sp>
      <p:sp>
        <p:nvSpPr>
          <p:cNvPr id="3" name="Content Placeholder 2">
            <a:extLst>
              <a:ext uri="{FF2B5EF4-FFF2-40B4-BE49-F238E27FC236}">
                <a16:creationId xmlns:a16="http://schemas.microsoft.com/office/drawing/2014/main" id="{2E1F77FD-6B70-908B-47EB-CC566D06259E}"/>
              </a:ext>
            </a:extLst>
          </p:cNvPr>
          <p:cNvSpPr>
            <a:spLocks noGrp="1"/>
          </p:cNvSpPr>
          <p:nvPr>
            <p:ph idx="1"/>
          </p:nvPr>
        </p:nvSpPr>
        <p:spPr/>
        <p:txBody>
          <a:bodyPr/>
          <a:lstStyle/>
          <a:p>
            <a:pPr lvl="0"/>
            <a:r>
              <a:rPr lang="en-IN" b="1" dirty="0">
                <a:latin typeface="Times New Roman" panose="02020603050405020304" pitchFamily="18" charset="0"/>
                <a:cs typeface="Times New Roman" panose="02020603050405020304" pitchFamily="18" charset="0"/>
              </a:rPr>
              <a:t>Week 1:</a:t>
            </a:r>
            <a:r>
              <a:rPr lang="en-IN" dirty="0">
                <a:latin typeface="Times New Roman" panose="02020603050405020304" pitchFamily="18" charset="0"/>
                <a:cs typeface="Times New Roman" panose="02020603050405020304" pitchFamily="18" charset="0"/>
              </a:rPr>
              <a:t> Requirement Analysis &amp; UI Design </a:t>
            </a:r>
          </a:p>
          <a:p>
            <a:pPr lvl="0"/>
            <a:r>
              <a:rPr lang="en-IN" b="1" dirty="0">
                <a:latin typeface="Times New Roman" panose="02020603050405020304" pitchFamily="18" charset="0"/>
                <a:cs typeface="Times New Roman" panose="02020603050405020304" pitchFamily="18" charset="0"/>
              </a:rPr>
              <a:t>Week 2:</a:t>
            </a:r>
            <a:r>
              <a:rPr lang="en-IN" dirty="0">
                <a:latin typeface="Times New Roman" panose="02020603050405020304" pitchFamily="18" charset="0"/>
                <a:cs typeface="Times New Roman" panose="02020603050405020304" pitchFamily="18" charset="0"/>
              </a:rPr>
              <a:t> Frontend and Backend Development </a:t>
            </a:r>
          </a:p>
          <a:p>
            <a:pPr lvl="0"/>
            <a:r>
              <a:rPr lang="en-IN" b="1" dirty="0">
                <a:latin typeface="Times New Roman" panose="02020603050405020304" pitchFamily="18" charset="0"/>
                <a:cs typeface="Times New Roman" panose="02020603050405020304" pitchFamily="18" charset="0"/>
              </a:rPr>
              <a:t>Week 3:</a:t>
            </a:r>
            <a:r>
              <a:rPr lang="en-IN" dirty="0">
                <a:latin typeface="Times New Roman" panose="02020603050405020304" pitchFamily="18" charset="0"/>
                <a:cs typeface="Times New Roman" panose="02020603050405020304" pitchFamily="18" charset="0"/>
              </a:rPr>
              <a:t> Google Cloud Storage Integration </a:t>
            </a:r>
          </a:p>
          <a:p>
            <a:pPr lvl="0"/>
            <a:r>
              <a:rPr lang="en-IN" b="1" dirty="0">
                <a:latin typeface="Times New Roman" panose="02020603050405020304" pitchFamily="18" charset="0"/>
                <a:cs typeface="Times New Roman" panose="02020603050405020304" pitchFamily="18" charset="0"/>
              </a:rPr>
              <a:t>Week 4:</a:t>
            </a:r>
            <a:r>
              <a:rPr lang="en-IN" dirty="0">
                <a:latin typeface="Times New Roman" panose="02020603050405020304" pitchFamily="18" charset="0"/>
                <a:cs typeface="Times New Roman" panose="02020603050405020304" pitchFamily="18" charset="0"/>
              </a:rPr>
              <a:t> Carbon Monitoring &amp; Smart File Management </a:t>
            </a:r>
          </a:p>
          <a:p>
            <a:pPr lvl="0"/>
            <a:r>
              <a:rPr lang="en-IN" b="1" dirty="0">
                <a:latin typeface="Times New Roman" panose="02020603050405020304" pitchFamily="18" charset="0"/>
                <a:cs typeface="Times New Roman" panose="02020603050405020304" pitchFamily="18" charset="0"/>
              </a:rPr>
              <a:t>Week 5:</a:t>
            </a:r>
            <a:r>
              <a:rPr lang="en-IN" dirty="0">
                <a:latin typeface="Times New Roman" panose="02020603050405020304" pitchFamily="18" charset="0"/>
                <a:cs typeface="Times New Roman" panose="02020603050405020304" pitchFamily="18" charset="0"/>
              </a:rPr>
              <a:t> Testing &amp; Debugging </a:t>
            </a:r>
          </a:p>
          <a:p>
            <a:pPr lvl="0"/>
            <a:r>
              <a:rPr lang="en-IN" b="1" dirty="0">
                <a:latin typeface="Times New Roman" panose="02020603050405020304" pitchFamily="18" charset="0"/>
                <a:cs typeface="Times New Roman" panose="02020603050405020304" pitchFamily="18" charset="0"/>
              </a:rPr>
              <a:t>Week 6:</a:t>
            </a:r>
            <a:r>
              <a:rPr lang="en-IN" dirty="0">
                <a:latin typeface="Times New Roman" panose="02020603050405020304" pitchFamily="18" charset="0"/>
                <a:cs typeface="Times New Roman" panose="02020603050405020304" pitchFamily="18" charset="0"/>
              </a:rPr>
              <a:t> Final Integration, Documentation &amp; Demo</a:t>
            </a:r>
          </a:p>
          <a:p>
            <a:endParaRPr lang="en-IN" i="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6D8C405A-F9C7-D2F6-5787-28C5EBC7CB27}"/>
              </a:ext>
            </a:extLst>
          </p:cNvPr>
          <p:cNvSpPr>
            <a:spLocks noGrp="1"/>
          </p:cNvSpPr>
          <p:nvPr>
            <p:ph type="dt" sz="half" idx="10"/>
          </p:nvPr>
        </p:nvSpPr>
        <p:spPr/>
        <p:txBody>
          <a:bodyPr/>
          <a:lstStyle/>
          <a:p>
            <a:fld id="{5BB360BF-3364-4C40-AA0D-9AC59C33DD67}" type="datetime1">
              <a:rPr lang="en-IN" smtClean="0"/>
              <a:t>30-09-2026</a:t>
            </a:fld>
            <a:endParaRPr lang="en-IN"/>
          </a:p>
        </p:txBody>
      </p:sp>
      <p:sp>
        <p:nvSpPr>
          <p:cNvPr id="5" name="Footer Placeholder 4">
            <a:extLst>
              <a:ext uri="{FF2B5EF4-FFF2-40B4-BE49-F238E27FC236}">
                <a16:creationId xmlns:a16="http://schemas.microsoft.com/office/drawing/2014/main" id="{05FCCC35-2304-5EE6-2DBB-542F5B67FE5A}"/>
              </a:ext>
            </a:extLst>
          </p:cNvPr>
          <p:cNvSpPr>
            <a:spLocks noGrp="1"/>
          </p:cNvSpPr>
          <p:nvPr>
            <p:ph type="ftr" sz="quarter" idx="11"/>
          </p:nvPr>
        </p:nvSpPr>
        <p:spPr/>
        <p:txBody>
          <a:bodyPr/>
          <a:lstStyle/>
          <a:p>
            <a:r>
              <a:rPr lang="en-IN"/>
              <a:t>IDEA Day Presentation (2025-26)</a:t>
            </a:r>
          </a:p>
        </p:txBody>
      </p:sp>
      <p:cxnSp>
        <p:nvCxnSpPr>
          <p:cNvPr id="9" name="Straight Connector 8">
            <a:extLst>
              <a:ext uri="{FF2B5EF4-FFF2-40B4-BE49-F238E27FC236}">
                <a16:creationId xmlns:a16="http://schemas.microsoft.com/office/drawing/2014/main" id="{2DEA6AB5-375D-2E21-451D-88CABF38E874}"/>
              </a:ext>
            </a:extLst>
          </p:cNvPr>
          <p:cNvCxnSpPr>
            <a:cxnSpLocks/>
          </p:cNvCxnSpPr>
          <p:nvPr/>
        </p:nvCxnSpPr>
        <p:spPr>
          <a:xfrm rot="5400000">
            <a:off x="-1737091" y="2693815"/>
            <a:ext cx="481831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2153B14F-07D9-CCBD-E0B7-4BB429BE6EA3}"/>
              </a:ext>
            </a:extLst>
          </p:cNvPr>
          <p:cNvSpPr/>
          <p:nvPr/>
        </p:nvSpPr>
        <p:spPr>
          <a:xfrm rot="5400000">
            <a:off x="3395166" y="-1071125"/>
            <a:ext cx="45719" cy="4965105"/>
          </a:xfrm>
          <a:prstGeom prst="roundRect">
            <a:avLst>
              <a:gd name="adj" fmla="val 0"/>
            </a:avLst>
          </a:prstGeom>
          <a:solidFill>
            <a:srgbClr val="D43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Slide Number Placeholder 5">
            <a:extLst>
              <a:ext uri="{FF2B5EF4-FFF2-40B4-BE49-F238E27FC236}">
                <a16:creationId xmlns:a16="http://schemas.microsoft.com/office/drawing/2014/main" id="{9CA52D3F-F5B4-4E42-BD3D-5BEDADA6A771}"/>
              </a:ext>
            </a:extLst>
          </p:cNvPr>
          <p:cNvSpPr>
            <a:spLocks noGrp="1"/>
          </p:cNvSpPr>
          <p:nvPr>
            <p:ph type="sldNum" sz="quarter" idx="12"/>
          </p:nvPr>
        </p:nvSpPr>
        <p:spPr/>
        <p:txBody>
          <a:bodyPr/>
          <a:lstStyle/>
          <a:p>
            <a:fld id="{9C902771-8627-4730-8F5A-2C051D1E05D5}" type="slidenum">
              <a:rPr lang="en-IN" smtClean="0"/>
              <a:t>7</a:t>
            </a:fld>
            <a:endParaRPr lang="en-IN"/>
          </a:p>
        </p:txBody>
      </p:sp>
    </p:spTree>
    <p:extLst>
      <p:ext uri="{BB962C8B-B14F-4D97-AF65-F5344CB8AC3E}">
        <p14:creationId xmlns:p14="http://schemas.microsoft.com/office/powerpoint/2010/main" val="35058840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0CBCF-6260-9CAD-1437-A26DAE6DDC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A65318-3E1B-67D7-53E2-AA1D1554E99B}"/>
              </a:ext>
            </a:extLst>
          </p:cNvPr>
          <p:cNvSpPr>
            <a:spLocks noGrp="1"/>
          </p:cNvSpPr>
          <p:nvPr>
            <p:ph type="title"/>
          </p:nvPr>
        </p:nvSpPr>
        <p:spPr>
          <a:xfrm>
            <a:off x="838200" y="546847"/>
            <a:ext cx="10515600" cy="1143841"/>
          </a:xfrm>
        </p:spPr>
        <p:txBody>
          <a:bodyPr/>
          <a:lstStyle/>
          <a:p>
            <a:r>
              <a:rPr lang="en-IN" b="1" dirty="0">
                <a:latin typeface="Times New Roman" panose="02020603050405020304" pitchFamily="18" charset="0"/>
                <a:cs typeface="Times New Roman" panose="02020603050405020304" pitchFamily="18" charset="0"/>
              </a:rPr>
              <a:t>Risk Analysis &amp; Challenges</a:t>
            </a:r>
          </a:p>
        </p:txBody>
      </p:sp>
      <p:graphicFrame>
        <p:nvGraphicFramePr>
          <p:cNvPr id="7" name="Content Placeholder 6">
            <a:extLst>
              <a:ext uri="{FF2B5EF4-FFF2-40B4-BE49-F238E27FC236}">
                <a16:creationId xmlns:a16="http://schemas.microsoft.com/office/drawing/2014/main" id="{9ACFC7F9-3C33-E89A-D849-F90CDD0B1BD3}"/>
              </a:ext>
            </a:extLst>
          </p:cNvPr>
          <p:cNvGraphicFramePr>
            <a:graphicFrameLocks noGrp="1"/>
          </p:cNvGraphicFramePr>
          <p:nvPr>
            <p:ph idx="1"/>
            <p:extLst>
              <p:ext uri="{D42A27DB-BD31-4B8C-83A1-F6EECF244321}">
                <p14:modId xmlns:p14="http://schemas.microsoft.com/office/powerpoint/2010/main" val="1804263363"/>
              </p:ext>
            </p:extLst>
          </p:nvPr>
        </p:nvGraphicFramePr>
        <p:xfrm>
          <a:off x="838200" y="2263934"/>
          <a:ext cx="10515600" cy="347472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1717440667"/>
                    </a:ext>
                  </a:extLst>
                </a:gridCol>
                <a:gridCol w="5257800">
                  <a:extLst>
                    <a:ext uri="{9D8B030D-6E8A-4147-A177-3AD203B41FA5}">
                      <a16:colId xmlns:a16="http://schemas.microsoft.com/office/drawing/2014/main" val="3817354062"/>
                    </a:ext>
                  </a:extLst>
                </a:gridCol>
              </a:tblGrid>
              <a:tr h="0">
                <a:tc>
                  <a:txBody>
                    <a:bodyPr/>
                    <a:lstStyle/>
                    <a:p>
                      <a:pPr>
                        <a:buNone/>
                      </a:pPr>
                      <a:r>
                        <a:rPr lang="en-IN">
                          <a:latin typeface="Times New Roman" panose="02020603050405020304" pitchFamily="18" charset="0"/>
                          <a:cs typeface="Times New Roman" panose="02020603050405020304" pitchFamily="18" charset="0"/>
                        </a:rPr>
                        <a:t>Risk</a:t>
                      </a:r>
                    </a:p>
                  </a:txBody>
                  <a:tcPr anchor="ctr"/>
                </a:tc>
                <a:tc>
                  <a:txBody>
                    <a:bodyPr/>
                    <a:lstStyle/>
                    <a:p>
                      <a:pPr>
                        <a:buNone/>
                      </a:pPr>
                      <a:r>
                        <a:rPr lang="en-IN">
                          <a:latin typeface="Times New Roman" panose="02020603050405020304" pitchFamily="18" charset="0"/>
                          <a:cs typeface="Times New Roman" panose="02020603050405020304" pitchFamily="18" charset="0"/>
                        </a:rPr>
                        <a:t>Mitigation Strategy</a:t>
                      </a:r>
                    </a:p>
                  </a:txBody>
                  <a:tcPr anchor="ctr"/>
                </a:tc>
                <a:extLst>
                  <a:ext uri="{0D108BD9-81ED-4DB2-BD59-A6C34878D82A}">
                    <a16:rowId xmlns:a16="http://schemas.microsoft.com/office/drawing/2014/main" val="938965156"/>
                  </a:ext>
                </a:extLst>
              </a:tr>
              <a:tr h="0">
                <a:tc>
                  <a:txBody>
                    <a:bodyPr/>
                    <a:lstStyle/>
                    <a:p>
                      <a:pPr>
                        <a:buNone/>
                      </a:pPr>
                      <a:r>
                        <a:rPr lang="en-IN" dirty="0">
                          <a:latin typeface="Times New Roman" panose="02020603050405020304" pitchFamily="18" charset="0"/>
                          <a:cs typeface="Times New Roman" panose="02020603050405020304" pitchFamily="18" charset="0"/>
                        </a:rPr>
                        <a:t>Technical Risk: Carbon calculation or cloud storage integration may not work correctly.</a:t>
                      </a:r>
                    </a:p>
                  </a:txBody>
                  <a:tcPr anchor="ctr"/>
                </a:tc>
                <a:tc>
                  <a:txBody>
                    <a:bodyPr/>
                    <a:lstStyle/>
                    <a:p>
                      <a:pPr>
                        <a:buNone/>
                      </a:pPr>
                      <a:r>
                        <a:rPr lang="en-IN">
                          <a:latin typeface="Times New Roman" panose="02020603050405020304" pitchFamily="18" charset="0"/>
                          <a:cs typeface="Times New Roman" panose="02020603050405020304" pitchFamily="18" charset="0"/>
                        </a:rPr>
                        <a:t>Use simple carbon-estimation methods, test each module separately, and maintain backup data-storage options.</a:t>
                      </a:r>
                    </a:p>
                  </a:txBody>
                  <a:tcPr anchor="ctr"/>
                </a:tc>
                <a:extLst>
                  <a:ext uri="{0D108BD9-81ED-4DB2-BD59-A6C34878D82A}">
                    <a16:rowId xmlns:a16="http://schemas.microsoft.com/office/drawing/2014/main" val="2825567208"/>
                  </a:ext>
                </a:extLst>
              </a:tr>
              <a:tr h="0">
                <a:tc>
                  <a:txBody>
                    <a:bodyPr/>
                    <a:lstStyle/>
                    <a:p>
                      <a:pPr>
                        <a:buNone/>
                      </a:pPr>
                      <a:r>
                        <a:rPr lang="en-IN">
                          <a:latin typeface="Times New Roman" panose="02020603050405020304" pitchFamily="18" charset="0"/>
                          <a:cs typeface="Times New Roman" panose="02020603050405020304" pitchFamily="18" charset="0"/>
                        </a:rPr>
                        <a:t>Financial Risk: Cloud hosting and storage may increase project cost.</a:t>
                      </a:r>
                    </a:p>
                  </a:txBody>
                  <a:tcPr anchor="ctr"/>
                </a:tc>
                <a:tc>
                  <a:txBody>
                    <a:bodyPr/>
                    <a:lstStyle/>
                    <a:p>
                      <a:pPr>
                        <a:buNone/>
                      </a:pPr>
                      <a:r>
                        <a:rPr lang="en-IN">
                          <a:latin typeface="Times New Roman" panose="02020603050405020304" pitchFamily="18" charset="0"/>
                          <a:cs typeface="Times New Roman" panose="02020603050405020304" pitchFamily="18" charset="0"/>
                        </a:rPr>
                        <a:t>Use free-tier cloud services, limit stored test data, and monitor cloud usage regularly.</a:t>
                      </a:r>
                    </a:p>
                  </a:txBody>
                  <a:tcPr anchor="ctr"/>
                </a:tc>
                <a:extLst>
                  <a:ext uri="{0D108BD9-81ED-4DB2-BD59-A6C34878D82A}">
                    <a16:rowId xmlns:a16="http://schemas.microsoft.com/office/drawing/2014/main" val="2291494452"/>
                  </a:ext>
                </a:extLst>
              </a:tr>
              <a:tr h="0">
                <a:tc>
                  <a:txBody>
                    <a:bodyPr/>
                    <a:lstStyle/>
                    <a:p>
                      <a:pPr>
                        <a:buNone/>
                      </a:pPr>
                      <a:r>
                        <a:rPr lang="en-IN">
                          <a:latin typeface="Times New Roman" panose="02020603050405020304" pitchFamily="18" charset="0"/>
                          <a:cs typeface="Times New Roman" panose="02020603050405020304" pitchFamily="18" charset="0"/>
                        </a:rPr>
                        <a:t>Timeline Risk: Development and testing may take more time than expected.</a:t>
                      </a:r>
                    </a:p>
                  </a:txBody>
                  <a:tcPr anchor="ctr"/>
                </a:tc>
                <a:tc>
                  <a:txBody>
                    <a:bodyPr/>
                    <a:lstStyle/>
                    <a:p>
                      <a:pPr>
                        <a:buNone/>
                      </a:pPr>
                      <a:r>
                        <a:rPr lang="en-IN">
                          <a:latin typeface="Times New Roman" panose="02020603050405020304" pitchFamily="18" charset="0"/>
                          <a:cs typeface="Times New Roman" panose="02020603050405020304" pitchFamily="18" charset="0"/>
                        </a:rPr>
                        <a:t>Divide the project into small tasks, prepare a schedule, and complete important features first.</a:t>
                      </a:r>
                    </a:p>
                  </a:txBody>
                  <a:tcPr anchor="ctr"/>
                </a:tc>
                <a:extLst>
                  <a:ext uri="{0D108BD9-81ED-4DB2-BD59-A6C34878D82A}">
                    <a16:rowId xmlns:a16="http://schemas.microsoft.com/office/drawing/2014/main" val="103662222"/>
                  </a:ext>
                </a:extLst>
              </a:tr>
              <a:tr h="0">
                <a:tc>
                  <a:txBody>
                    <a:bodyPr/>
                    <a:lstStyle/>
                    <a:p>
                      <a:pPr>
                        <a:buNone/>
                      </a:pPr>
                      <a:r>
                        <a:rPr lang="en-IN">
                          <a:latin typeface="Times New Roman" panose="02020603050405020304" pitchFamily="18" charset="0"/>
                          <a:cs typeface="Times New Roman" panose="02020603050405020304" pitchFamily="18" charset="0"/>
                        </a:rPr>
                        <a:t>Team Skills Risk: Team members may have limited knowledge of cloud computing or carbon monitoring.</a:t>
                      </a:r>
                    </a:p>
                  </a:txBody>
                  <a:tcPr anchor="ctr"/>
                </a:tc>
                <a:tc>
                  <a:txBody>
                    <a:bodyPr/>
                    <a:lstStyle/>
                    <a:p>
                      <a:pPr>
                        <a:buNone/>
                      </a:pPr>
                      <a:r>
                        <a:rPr lang="en-IN" dirty="0">
                          <a:latin typeface="Times New Roman" panose="02020603050405020304" pitchFamily="18" charset="0"/>
                          <a:cs typeface="Times New Roman" panose="02020603050405020304" pitchFamily="18" charset="0"/>
                        </a:rPr>
                        <a:t>Learn required technologies through tutorials, divide tasks according to skills, and take guidance from mentors.</a:t>
                      </a:r>
                    </a:p>
                  </a:txBody>
                  <a:tcPr anchor="ctr"/>
                </a:tc>
                <a:extLst>
                  <a:ext uri="{0D108BD9-81ED-4DB2-BD59-A6C34878D82A}">
                    <a16:rowId xmlns:a16="http://schemas.microsoft.com/office/drawing/2014/main" val="44008"/>
                  </a:ext>
                </a:extLst>
              </a:tr>
            </a:tbl>
          </a:graphicData>
        </a:graphic>
      </p:graphicFrame>
      <p:sp>
        <p:nvSpPr>
          <p:cNvPr id="4" name="Date Placeholder 3">
            <a:extLst>
              <a:ext uri="{FF2B5EF4-FFF2-40B4-BE49-F238E27FC236}">
                <a16:creationId xmlns:a16="http://schemas.microsoft.com/office/drawing/2014/main" id="{16A634F7-ECA5-E6C4-D5C8-5FF517C5013D}"/>
              </a:ext>
            </a:extLst>
          </p:cNvPr>
          <p:cNvSpPr>
            <a:spLocks noGrp="1"/>
          </p:cNvSpPr>
          <p:nvPr>
            <p:ph type="dt" sz="half" idx="10"/>
          </p:nvPr>
        </p:nvSpPr>
        <p:spPr/>
        <p:txBody>
          <a:bodyPr/>
          <a:lstStyle/>
          <a:p>
            <a:fld id="{AFA110B4-90DE-42B9-9C66-DF7CA7B2A0F0}" type="datetime1">
              <a:rPr lang="en-IN" smtClean="0"/>
              <a:t>30-09-2026</a:t>
            </a:fld>
            <a:endParaRPr lang="en-IN"/>
          </a:p>
        </p:txBody>
      </p:sp>
      <p:sp>
        <p:nvSpPr>
          <p:cNvPr id="5" name="Footer Placeholder 4">
            <a:extLst>
              <a:ext uri="{FF2B5EF4-FFF2-40B4-BE49-F238E27FC236}">
                <a16:creationId xmlns:a16="http://schemas.microsoft.com/office/drawing/2014/main" id="{7E3A07DD-A6CC-23BC-4A5E-C970E2693706}"/>
              </a:ext>
            </a:extLst>
          </p:cNvPr>
          <p:cNvSpPr>
            <a:spLocks noGrp="1"/>
          </p:cNvSpPr>
          <p:nvPr>
            <p:ph type="ftr" sz="quarter" idx="11"/>
          </p:nvPr>
        </p:nvSpPr>
        <p:spPr/>
        <p:txBody>
          <a:bodyPr/>
          <a:lstStyle/>
          <a:p>
            <a:r>
              <a:rPr lang="en-IN"/>
              <a:t>IDEA Day Presentation (2025-26)</a:t>
            </a:r>
          </a:p>
        </p:txBody>
      </p:sp>
      <p:cxnSp>
        <p:nvCxnSpPr>
          <p:cNvPr id="9" name="Straight Connector 8">
            <a:extLst>
              <a:ext uri="{FF2B5EF4-FFF2-40B4-BE49-F238E27FC236}">
                <a16:creationId xmlns:a16="http://schemas.microsoft.com/office/drawing/2014/main" id="{793DF30F-E532-754F-8BA9-50FDCDCFC513}"/>
              </a:ext>
            </a:extLst>
          </p:cNvPr>
          <p:cNvCxnSpPr>
            <a:cxnSpLocks/>
          </p:cNvCxnSpPr>
          <p:nvPr/>
        </p:nvCxnSpPr>
        <p:spPr>
          <a:xfrm rot="5400000">
            <a:off x="-1737091" y="2693815"/>
            <a:ext cx="481831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61DD9588-25B8-36B7-A873-4691B0DD974F}"/>
              </a:ext>
            </a:extLst>
          </p:cNvPr>
          <p:cNvSpPr/>
          <p:nvPr/>
        </p:nvSpPr>
        <p:spPr>
          <a:xfrm rot="5400000">
            <a:off x="3395166" y="-1071125"/>
            <a:ext cx="45719" cy="4965105"/>
          </a:xfrm>
          <a:prstGeom prst="roundRect">
            <a:avLst>
              <a:gd name="adj" fmla="val 0"/>
            </a:avLst>
          </a:prstGeom>
          <a:solidFill>
            <a:srgbClr val="D43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Slide Number Placeholder 5">
            <a:extLst>
              <a:ext uri="{FF2B5EF4-FFF2-40B4-BE49-F238E27FC236}">
                <a16:creationId xmlns:a16="http://schemas.microsoft.com/office/drawing/2014/main" id="{C9DFD90D-56BC-4327-99CE-8F2E2314A989}"/>
              </a:ext>
            </a:extLst>
          </p:cNvPr>
          <p:cNvSpPr>
            <a:spLocks noGrp="1"/>
          </p:cNvSpPr>
          <p:nvPr>
            <p:ph type="sldNum" sz="quarter" idx="12"/>
          </p:nvPr>
        </p:nvSpPr>
        <p:spPr/>
        <p:txBody>
          <a:bodyPr/>
          <a:lstStyle/>
          <a:p>
            <a:fld id="{9C902771-8627-4730-8F5A-2C051D1E05D5}" type="slidenum">
              <a:rPr lang="en-IN" smtClean="0"/>
              <a:t>8</a:t>
            </a:fld>
            <a:endParaRPr lang="en-IN"/>
          </a:p>
        </p:txBody>
      </p:sp>
    </p:spTree>
    <p:extLst>
      <p:ext uri="{BB962C8B-B14F-4D97-AF65-F5344CB8AC3E}">
        <p14:creationId xmlns:p14="http://schemas.microsoft.com/office/powerpoint/2010/main" val="213170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A2311-D19E-87FB-B686-A1C640EC9F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CF4FFF-BFE1-3D73-C890-4683180D8A71}"/>
              </a:ext>
            </a:extLst>
          </p:cNvPr>
          <p:cNvSpPr>
            <a:spLocks noGrp="1"/>
          </p:cNvSpPr>
          <p:nvPr>
            <p:ph type="title"/>
          </p:nvPr>
        </p:nvSpPr>
        <p:spPr>
          <a:xfrm>
            <a:off x="838200" y="546847"/>
            <a:ext cx="10515600" cy="1143841"/>
          </a:xfrm>
        </p:spPr>
        <p:txBody>
          <a:bodyPr/>
          <a:lstStyle/>
          <a:p>
            <a:r>
              <a:rPr lang="en-IN" b="1" dirty="0">
                <a:latin typeface="Times New Roman" panose="02020603050405020304" pitchFamily="18" charset="0"/>
                <a:cs typeface="Times New Roman" panose="02020603050405020304" pitchFamily="18" charset="0"/>
              </a:rPr>
              <a:t>Technology Stack</a:t>
            </a:r>
          </a:p>
        </p:txBody>
      </p:sp>
      <p:sp>
        <p:nvSpPr>
          <p:cNvPr id="3" name="Content Placeholder 2">
            <a:extLst>
              <a:ext uri="{FF2B5EF4-FFF2-40B4-BE49-F238E27FC236}">
                <a16:creationId xmlns:a16="http://schemas.microsoft.com/office/drawing/2014/main" id="{8A909854-5C2B-811E-2A46-B03EFD5F9D13}"/>
              </a:ext>
            </a:extLst>
          </p:cNvPr>
          <p:cNvSpPr>
            <a:spLocks noGrp="1"/>
          </p:cNvSpPr>
          <p:nvPr>
            <p:ph idx="1"/>
          </p:nvPr>
        </p:nvSpPr>
        <p:spPr/>
        <p:txBody>
          <a:bodyPr/>
          <a:lstStyle/>
          <a:p>
            <a:pPr lvl="0"/>
            <a:r>
              <a:rPr lang="en-IN" b="1" dirty="0">
                <a:latin typeface="Times New Roman" panose="02020603050405020304" pitchFamily="18" charset="0"/>
                <a:cs typeface="Times New Roman" panose="02020603050405020304" pitchFamily="18" charset="0"/>
              </a:rPr>
              <a:t>Frontend:</a:t>
            </a:r>
            <a:r>
              <a:rPr lang="en-IN" dirty="0">
                <a:latin typeface="Times New Roman" panose="02020603050405020304" pitchFamily="18" charset="0"/>
                <a:cs typeface="Times New Roman" panose="02020603050405020304" pitchFamily="18" charset="0"/>
              </a:rPr>
              <a:t> HTML, CSS, JavaScript </a:t>
            </a:r>
          </a:p>
          <a:p>
            <a:pPr lvl="0"/>
            <a:r>
              <a:rPr lang="en-IN" b="1" dirty="0">
                <a:latin typeface="Times New Roman" panose="02020603050405020304" pitchFamily="18" charset="0"/>
                <a:cs typeface="Times New Roman" panose="02020603050405020304" pitchFamily="18" charset="0"/>
              </a:rPr>
              <a:t>Backend:</a:t>
            </a:r>
            <a:r>
              <a:rPr lang="en-IN" dirty="0">
                <a:latin typeface="Times New Roman" panose="02020603050405020304" pitchFamily="18" charset="0"/>
                <a:cs typeface="Times New Roman" panose="02020603050405020304" pitchFamily="18" charset="0"/>
              </a:rPr>
              <a:t> Python, Django </a:t>
            </a:r>
          </a:p>
          <a:p>
            <a:pPr lvl="0"/>
            <a:r>
              <a:rPr lang="en-IN" b="1" dirty="0">
                <a:latin typeface="Times New Roman" panose="02020603050405020304" pitchFamily="18" charset="0"/>
                <a:cs typeface="Times New Roman" panose="02020603050405020304" pitchFamily="18" charset="0"/>
              </a:rPr>
              <a:t>Database:</a:t>
            </a:r>
            <a:r>
              <a:rPr lang="en-IN" dirty="0">
                <a:latin typeface="Times New Roman" panose="02020603050405020304" pitchFamily="18" charset="0"/>
                <a:cs typeface="Times New Roman" panose="02020603050405020304" pitchFamily="18" charset="0"/>
              </a:rPr>
              <a:t> MySQL </a:t>
            </a:r>
          </a:p>
          <a:p>
            <a:pPr lvl="0"/>
            <a:r>
              <a:rPr lang="en-IN" b="1" dirty="0">
                <a:latin typeface="Times New Roman" panose="02020603050405020304" pitchFamily="18" charset="0"/>
                <a:cs typeface="Times New Roman" panose="02020603050405020304" pitchFamily="18" charset="0"/>
              </a:rPr>
              <a:t>Cloud Storage:</a:t>
            </a:r>
            <a:r>
              <a:rPr lang="en-IN" dirty="0">
                <a:latin typeface="Times New Roman" panose="02020603050405020304" pitchFamily="18" charset="0"/>
                <a:cs typeface="Times New Roman" panose="02020603050405020304" pitchFamily="18" charset="0"/>
              </a:rPr>
              <a:t> Google Cloud Storage </a:t>
            </a:r>
          </a:p>
          <a:p>
            <a:pPr lvl="0"/>
            <a:r>
              <a:rPr lang="en-IN" b="1" dirty="0">
                <a:latin typeface="Times New Roman" panose="02020603050405020304" pitchFamily="18" charset="0"/>
                <a:cs typeface="Times New Roman" panose="02020603050405020304" pitchFamily="18" charset="0"/>
              </a:rPr>
              <a:t>Carbon Monitoring:</a:t>
            </a:r>
            <a:r>
              <a:rPr lang="en-IN" dirty="0">
                <a:latin typeface="Times New Roman" panose="02020603050405020304" pitchFamily="18" charset="0"/>
                <a:cs typeface="Times New Roman" panose="02020603050405020304" pitchFamily="18" charset="0"/>
              </a:rPr>
              <a:t> Carbon Intensity API </a:t>
            </a:r>
          </a:p>
          <a:p>
            <a:pPr lvl="0"/>
            <a:r>
              <a:rPr lang="en-IN" b="1" dirty="0">
                <a:latin typeface="Times New Roman" panose="02020603050405020304" pitchFamily="18" charset="0"/>
                <a:cs typeface="Times New Roman" panose="02020603050405020304" pitchFamily="18" charset="0"/>
              </a:rPr>
              <a:t>Development Tool:</a:t>
            </a:r>
            <a:r>
              <a:rPr lang="en-IN" dirty="0">
                <a:latin typeface="Times New Roman" panose="02020603050405020304" pitchFamily="18" charset="0"/>
                <a:cs typeface="Times New Roman" panose="02020603050405020304" pitchFamily="18" charset="0"/>
              </a:rPr>
              <a:t> Visual Studio Code </a:t>
            </a:r>
          </a:p>
          <a:p>
            <a:pPr lvl="0"/>
            <a:r>
              <a:rPr lang="en-IN" b="1" dirty="0">
                <a:latin typeface="Times New Roman" panose="02020603050405020304" pitchFamily="18" charset="0"/>
                <a:cs typeface="Times New Roman" panose="02020603050405020304" pitchFamily="18" charset="0"/>
              </a:rPr>
              <a:t>Version Control:</a:t>
            </a:r>
            <a:r>
              <a:rPr lang="en-IN" dirty="0">
                <a:latin typeface="Times New Roman" panose="02020603050405020304" pitchFamily="18" charset="0"/>
                <a:cs typeface="Times New Roman" panose="02020603050405020304" pitchFamily="18" charset="0"/>
              </a:rPr>
              <a:t> GitHub </a:t>
            </a:r>
          </a:p>
          <a:p>
            <a:pPr lvl="0"/>
            <a:r>
              <a:rPr lang="en-IN" b="1" dirty="0">
                <a:latin typeface="Times New Roman" panose="02020603050405020304" pitchFamily="18" charset="0"/>
                <a:cs typeface="Times New Roman" panose="02020603050405020304" pitchFamily="18" charset="0"/>
              </a:rPr>
              <a:t>Hosting:</a:t>
            </a:r>
            <a:r>
              <a:rPr lang="en-IN" dirty="0">
                <a:latin typeface="Times New Roman" panose="02020603050405020304" pitchFamily="18" charset="0"/>
                <a:cs typeface="Times New Roman" panose="02020603050405020304" pitchFamily="18" charset="0"/>
              </a:rPr>
              <a:t> Google Cloud Platform (GCP)</a:t>
            </a:r>
          </a:p>
          <a:p>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7E38B47E-C0FB-D77D-65E7-C037174D7485}"/>
              </a:ext>
            </a:extLst>
          </p:cNvPr>
          <p:cNvSpPr>
            <a:spLocks noGrp="1"/>
          </p:cNvSpPr>
          <p:nvPr>
            <p:ph type="dt" sz="half" idx="10"/>
          </p:nvPr>
        </p:nvSpPr>
        <p:spPr/>
        <p:txBody>
          <a:bodyPr/>
          <a:lstStyle/>
          <a:p>
            <a:fld id="{B4CBF3D7-DD95-4600-A3B5-EF334AA25D87}" type="datetime1">
              <a:rPr lang="en-IN" smtClean="0"/>
              <a:t>30-09-2026</a:t>
            </a:fld>
            <a:endParaRPr lang="en-IN"/>
          </a:p>
        </p:txBody>
      </p:sp>
      <p:sp>
        <p:nvSpPr>
          <p:cNvPr id="5" name="Footer Placeholder 4">
            <a:extLst>
              <a:ext uri="{FF2B5EF4-FFF2-40B4-BE49-F238E27FC236}">
                <a16:creationId xmlns:a16="http://schemas.microsoft.com/office/drawing/2014/main" id="{393B90DA-FF2A-EA18-3017-D0D2468160CA}"/>
              </a:ext>
            </a:extLst>
          </p:cNvPr>
          <p:cNvSpPr>
            <a:spLocks noGrp="1"/>
          </p:cNvSpPr>
          <p:nvPr>
            <p:ph type="ftr" sz="quarter" idx="11"/>
          </p:nvPr>
        </p:nvSpPr>
        <p:spPr/>
        <p:txBody>
          <a:bodyPr/>
          <a:lstStyle/>
          <a:p>
            <a:r>
              <a:rPr lang="en-IN"/>
              <a:t>IDEA Day Presentation (2025-26)</a:t>
            </a:r>
          </a:p>
        </p:txBody>
      </p:sp>
      <p:cxnSp>
        <p:nvCxnSpPr>
          <p:cNvPr id="9" name="Straight Connector 8">
            <a:extLst>
              <a:ext uri="{FF2B5EF4-FFF2-40B4-BE49-F238E27FC236}">
                <a16:creationId xmlns:a16="http://schemas.microsoft.com/office/drawing/2014/main" id="{6BA4795B-79DF-44D8-84E3-9EF9635B5624}"/>
              </a:ext>
            </a:extLst>
          </p:cNvPr>
          <p:cNvCxnSpPr>
            <a:cxnSpLocks/>
          </p:cNvCxnSpPr>
          <p:nvPr/>
        </p:nvCxnSpPr>
        <p:spPr>
          <a:xfrm rot="5400000">
            <a:off x="-1737091" y="2693815"/>
            <a:ext cx="481831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336DB1F6-B82D-1315-FFEC-117F91A8A72C}"/>
              </a:ext>
            </a:extLst>
          </p:cNvPr>
          <p:cNvSpPr/>
          <p:nvPr/>
        </p:nvSpPr>
        <p:spPr>
          <a:xfrm rot="5400000">
            <a:off x="3395166" y="-1071125"/>
            <a:ext cx="45719" cy="4965105"/>
          </a:xfrm>
          <a:prstGeom prst="roundRect">
            <a:avLst>
              <a:gd name="adj" fmla="val 0"/>
            </a:avLst>
          </a:prstGeom>
          <a:solidFill>
            <a:srgbClr val="D43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Slide Number Placeholder 5">
            <a:extLst>
              <a:ext uri="{FF2B5EF4-FFF2-40B4-BE49-F238E27FC236}">
                <a16:creationId xmlns:a16="http://schemas.microsoft.com/office/drawing/2014/main" id="{6FB7D469-CE6C-429F-9BEC-A7898D2869AA}"/>
              </a:ext>
            </a:extLst>
          </p:cNvPr>
          <p:cNvSpPr>
            <a:spLocks noGrp="1"/>
          </p:cNvSpPr>
          <p:nvPr>
            <p:ph type="sldNum" sz="quarter" idx="12"/>
          </p:nvPr>
        </p:nvSpPr>
        <p:spPr/>
        <p:txBody>
          <a:bodyPr/>
          <a:lstStyle/>
          <a:p>
            <a:fld id="{9C902771-8627-4730-8F5A-2C051D1E05D5}" type="slidenum">
              <a:rPr lang="en-IN" smtClean="0"/>
              <a:t>9</a:t>
            </a:fld>
            <a:endParaRPr lang="en-IN"/>
          </a:p>
        </p:txBody>
      </p:sp>
    </p:spTree>
    <p:extLst>
      <p:ext uri="{BB962C8B-B14F-4D97-AF65-F5344CB8AC3E}">
        <p14:creationId xmlns:p14="http://schemas.microsoft.com/office/powerpoint/2010/main" val="3688106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4CA5C-48C9-DE59-3C37-9B8AB6ACC2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033C85-0533-6D5B-9F81-C9D3F2031687}"/>
              </a:ext>
            </a:extLst>
          </p:cNvPr>
          <p:cNvSpPr>
            <a:spLocks noGrp="1"/>
          </p:cNvSpPr>
          <p:nvPr>
            <p:ph type="title"/>
          </p:nvPr>
        </p:nvSpPr>
        <p:spPr>
          <a:xfrm>
            <a:off x="838200" y="546847"/>
            <a:ext cx="10515600" cy="1143841"/>
          </a:xfrm>
        </p:spPr>
        <p:txBody>
          <a:bodyPr/>
          <a:lstStyle/>
          <a:p>
            <a:r>
              <a:rPr lang="en-IN" b="1" dirty="0">
                <a:latin typeface="Times New Roman" panose="02020603050405020304" pitchFamily="18" charset="0"/>
                <a:cs typeface="Times New Roman" panose="02020603050405020304" pitchFamily="18" charset="0"/>
              </a:rPr>
              <a:t>List of Mentors</a:t>
            </a:r>
          </a:p>
        </p:txBody>
      </p:sp>
      <p:graphicFrame>
        <p:nvGraphicFramePr>
          <p:cNvPr id="7" name="Content Placeholder 6">
            <a:extLst>
              <a:ext uri="{FF2B5EF4-FFF2-40B4-BE49-F238E27FC236}">
                <a16:creationId xmlns:a16="http://schemas.microsoft.com/office/drawing/2014/main" id="{BEEF5886-91C8-FA70-CEDB-501D80A6B895}"/>
              </a:ext>
            </a:extLst>
          </p:cNvPr>
          <p:cNvGraphicFramePr>
            <a:graphicFrameLocks noGrp="1"/>
          </p:cNvGraphicFramePr>
          <p:nvPr>
            <p:ph idx="1"/>
            <p:extLst>
              <p:ext uri="{D42A27DB-BD31-4B8C-83A1-F6EECF244321}">
                <p14:modId xmlns:p14="http://schemas.microsoft.com/office/powerpoint/2010/main" val="3245244945"/>
              </p:ext>
            </p:extLst>
          </p:nvPr>
        </p:nvGraphicFramePr>
        <p:xfrm>
          <a:off x="876300" y="1825626"/>
          <a:ext cx="10439400" cy="1143840"/>
        </p:xfrm>
        <a:graphic>
          <a:graphicData uri="http://schemas.openxmlformats.org/drawingml/2006/table">
            <a:tbl>
              <a:tblPr firstRow="1" bandRow="1">
                <a:tableStyleId>{72833802-FEF1-4C79-8D5D-14CF1EAF98D9}</a:tableStyleId>
              </a:tblPr>
              <a:tblGrid>
                <a:gridCol w="2609850">
                  <a:extLst>
                    <a:ext uri="{9D8B030D-6E8A-4147-A177-3AD203B41FA5}">
                      <a16:colId xmlns:a16="http://schemas.microsoft.com/office/drawing/2014/main" val="324766161"/>
                    </a:ext>
                  </a:extLst>
                </a:gridCol>
                <a:gridCol w="2609850">
                  <a:extLst>
                    <a:ext uri="{9D8B030D-6E8A-4147-A177-3AD203B41FA5}">
                      <a16:colId xmlns:a16="http://schemas.microsoft.com/office/drawing/2014/main" val="4294320943"/>
                    </a:ext>
                  </a:extLst>
                </a:gridCol>
                <a:gridCol w="2609850">
                  <a:extLst>
                    <a:ext uri="{9D8B030D-6E8A-4147-A177-3AD203B41FA5}">
                      <a16:colId xmlns:a16="http://schemas.microsoft.com/office/drawing/2014/main" val="2438771247"/>
                    </a:ext>
                  </a:extLst>
                </a:gridCol>
                <a:gridCol w="2609850">
                  <a:extLst>
                    <a:ext uri="{9D8B030D-6E8A-4147-A177-3AD203B41FA5}">
                      <a16:colId xmlns:a16="http://schemas.microsoft.com/office/drawing/2014/main" val="2769193749"/>
                    </a:ext>
                  </a:extLst>
                </a:gridCol>
              </a:tblGrid>
              <a:tr h="381280">
                <a:tc>
                  <a:txBody>
                    <a:bodyPr/>
                    <a:lstStyle/>
                    <a:p>
                      <a:r>
                        <a:rPr lang="en-IN" dirty="0">
                          <a:latin typeface="Times New Roman" panose="02020603050405020304" pitchFamily="18" charset="0"/>
                          <a:cs typeface="Times New Roman" panose="02020603050405020304" pitchFamily="18" charset="0"/>
                        </a:rPr>
                        <a:t>Name of Mentor</a:t>
                      </a:r>
                    </a:p>
                  </a:txBody>
                  <a:tcPr>
                    <a:solidFill>
                      <a:srgbClr val="D4302C"/>
                    </a:solidFill>
                  </a:tcPr>
                </a:tc>
                <a:tc>
                  <a:txBody>
                    <a:bodyPr/>
                    <a:lstStyle/>
                    <a:p>
                      <a:r>
                        <a:rPr lang="en-IN" dirty="0">
                          <a:latin typeface="Times New Roman" panose="02020603050405020304" pitchFamily="18" charset="0"/>
                          <a:cs typeface="Times New Roman" panose="02020603050405020304" pitchFamily="18" charset="0"/>
                        </a:rPr>
                        <a:t>Designation</a:t>
                      </a:r>
                    </a:p>
                  </a:txBody>
                  <a:tcPr>
                    <a:solidFill>
                      <a:srgbClr val="D4302C"/>
                    </a:solidFill>
                  </a:tcPr>
                </a:tc>
                <a:tc>
                  <a:txBody>
                    <a:bodyPr/>
                    <a:lstStyle/>
                    <a:p>
                      <a:r>
                        <a:rPr lang="en-IN" dirty="0">
                          <a:latin typeface="Times New Roman" panose="02020603050405020304" pitchFamily="18" charset="0"/>
                          <a:cs typeface="Times New Roman" panose="02020603050405020304" pitchFamily="18" charset="0"/>
                        </a:rPr>
                        <a:t>Department</a:t>
                      </a:r>
                    </a:p>
                  </a:txBody>
                  <a:tcPr>
                    <a:solidFill>
                      <a:srgbClr val="D4302C"/>
                    </a:solidFill>
                  </a:tcPr>
                </a:tc>
                <a:tc>
                  <a:txBody>
                    <a:bodyPr/>
                    <a:lstStyle/>
                    <a:p>
                      <a:r>
                        <a:rPr lang="en-IN" dirty="0">
                          <a:latin typeface="Times New Roman" panose="02020603050405020304" pitchFamily="18" charset="0"/>
                          <a:cs typeface="Times New Roman" panose="02020603050405020304" pitchFamily="18" charset="0"/>
                        </a:rPr>
                        <a:t>Role in Project</a:t>
                      </a:r>
                    </a:p>
                  </a:txBody>
                  <a:tcPr>
                    <a:solidFill>
                      <a:srgbClr val="D4302C"/>
                    </a:solidFill>
                  </a:tcPr>
                </a:tc>
                <a:extLst>
                  <a:ext uri="{0D108BD9-81ED-4DB2-BD59-A6C34878D82A}">
                    <a16:rowId xmlns:a16="http://schemas.microsoft.com/office/drawing/2014/main" val="3364931486"/>
                  </a:ext>
                </a:extLst>
              </a:tr>
              <a:tr h="381280">
                <a:tc>
                  <a:txBody>
                    <a:bodyPr/>
                    <a:lstStyle/>
                    <a:p>
                      <a:r>
                        <a:rPr lang="en-US" dirty="0">
                          <a:latin typeface="Times New Roman" panose="02020603050405020304" pitchFamily="18" charset="0"/>
                          <a:cs typeface="Times New Roman" panose="02020603050405020304" pitchFamily="18" charset="0"/>
                        </a:rPr>
                        <a:t>S</a:t>
                      </a:r>
                      <a:r>
                        <a:rPr lang="en-IN" dirty="0" err="1">
                          <a:latin typeface="Times New Roman" panose="02020603050405020304" pitchFamily="18" charset="0"/>
                          <a:cs typeface="Times New Roman" panose="02020603050405020304" pitchFamily="18" charset="0"/>
                        </a:rPr>
                        <a:t>ri.Gangu</a:t>
                      </a:r>
                      <a:r>
                        <a:rPr lang="en-IN" dirty="0">
                          <a:latin typeface="Times New Roman" panose="02020603050405020304" pitchFamily="18" charset="0"/>
                          <a:cs typeface="Times New Roman" panose="02020603050405020304" pitchFamily="18" charset="0"/>
                        </a:rPr>
                        <a:t> Vijaykumar</a:t>
                      </a:r>
                    </a:p>
                  </a:txBody>
                  <a:tcPr/>
                </a:tc>
                <a:tc>
                  <a:txBody>
                    <a:bodyPr/>
                    <a:lstStyle/>
                    <a:p>
                      <a:r>
                        <a:rPr lang="en-IN" dirty="0">
                          <a:latin typeface="Times New Roman" panose="02020603050405020304" pitchFamily="18" charset="0"/>
                          <a:cs typeface="Times New Roman" panose="02020603050405020304" pitchFamily="18" charset="0"/>
                        </a:rPr>
                        <a:t>Professor</a:t>
                      </a:r>
                    </a:p>
                  </a:txBody>
                  <a:tcPr/>
                </a:tc>
                <a:tc>
                  <a:txBody>
                    <a:bodyPr/>
                    <a:lstStyle/>
                    <a:p>
                      <a:r>
                        <a:rPr lang="en-IN" dirty="0">
                          <a:latin typeface="Times New Roman" panose="02020603050405020304" pitchFamily="18" charset="0"/>
                          <a:cs typeface="Times New Roman" panose="02020603050405020304" pitchFamily="18" charset="0"/>
                        </a:rPr>
                        <a:t>CSE</a:t>
                      </a:r>
                    </a:p>
                  </a:txBody>
                  <a:tcPr/>
                </a:tc>
                <a:tc>
                  <a:txBody>
                    <a:bodyPr/>
                    <a:lstStyle/>
                    <a:p>
                      <a:r>
                        <a:rPr lang="en-US" dirty="0">
                          <a:latin typeface="Times New Roman" panose="02020603050405020304" pitchFamily="18" charset="0"/>
                          <a:cs typeface="Times New Roman" panose="02020603050405020304" pitchFamily="18" charset="0"/>
                        </a:rPr>
                        <a:t>Cloud Computing</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6193898"/>
                  </a:ext>
                </a:extLst>
              </a:tr>
              <a:tr h="381280">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a:latin typeface="Times New Roman" panose="02020603050405020304" pitchFamily="18" charset="0"/>
                        <a:cs typeface="Times New Roman" panose="02020603050405020304" pitchFamily="18" charset="0"/>
                      </a:endParaRPr>
                    </a:p>
                  </a:txBody>
                  <a:tcPr/>
                </a:tc>
                <a:tc>
                  <a:txBody>
                    <a:bodyPr/>
                    <a:lstStyle/>
                    <a:p>
                      <a:endParaRPr lang="en-IN">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16734380"/>
                  </a:ext>
                </a:extLst>
              </a:tr>
            </a:tbl>
          </a:graphicData>
        </a:graphic>
      </p:graphicFrame>
      <p:sp>
        <p:nvSpPr>
          <p:cNvPr id="4" name="Date Placeholder 3">
            <a:extLst>
              <a:ext uri="{FF2B5EF4-FFF2-40B4-BE49-F238E27FC236}">
                <a16:creationId xmlns:a16="http://schemas.microsoft.com/office/drawing/2014/main" id="{48386DF2-AD0E-8A80-79EA-CE047EDACFEF}"/>
              </a:ext>
            </a:extLst>
          </p:cNvPr>
          <p:cNvSpPr>
            <a:spLocks noGrp="1"/>
          </p:cNvSpPr>
          <p:nvPr>
            <p:ph type="dt" sz="half" idx="10"/>
          </p:nvPr>
        </p:nvSpPr>
        <p:spPr/>
        <p:txBody>
          <a:bodyPr/>
          <a:lstStyle/>
          <a:p>
            <a:fld id="{9A1EC94B-1DBD-4D75-9926-B2CD599DA4B6}" type="datetime1">
              <a:rPr lang="en-IN" smtClean="0"/>
              <a:t>30-09-2026</a:t>
            </a:fld>
            <a:endParaRPr lang="en-IN"/>
          </a:p>
        </p:txBody>
      </p:sp>
      <p:sp>
        <p:nvSpPr>
          <p:cNvPr id="5" name="Footer Placeholder 4">
            <a:extLst>
              <a:ext uri="{FF2B5EF4-FFF2-40B4-BE49-F238E27FC236}">
                <a16:creationId xmlns:a16="http://schemas.microsoft.com/office/drawing/2014/main" id="{4876A1B2-00BB-EF04-7B85-515586BA125B}"/>
              </a:ext>
            </a:extLst>
          </p:cNvPr>
          <p:cNvSpPr>
            <a:spLocks noGrp="1"/>
          </p:cNvSpPr>
          <p:nvPr>
            <p:ph type="ftr" sz="quarter" idx="11"/>
          </p:nvPr>
        </p:nvSpPr>
        <p:spPr/>
        <p:txBody>
          <a:bodyPr/>
          <a:lstStyle/>
          <a:p>
            <a:r>
              <a:rPr lang="en-IN"/>
              <a:t>IDEA Day Presentation (2025-26)</a:t>
            </a:r>
          </a:p>
        </p:txBody>
      </p:sp>
      <p:cxnSp>
        <p:nvCxnSpPr>
          <p:cNvPr id="9" name="Straight Connector 8">
            <a:extLst>
              <a:ext uri="{FF2B5EF4-FFF2-40B4-BE49-F238E27FC236}">
                <a16:creationId xmlns:a16="http://schemas.microsoft.com/office/drawing/2014/main" id="{CA3D210E-BEC5-92CB-2481-BBCE3A5A2F32}"/>
              </a:ext>
            </a:extLst>
          </p:cNvPr>
          <p:cNvCxnSpPr>
            <a:cxnSpLocks/>
          </p:cNvCxnSpPr>
          <p:nvPr/>
        </p:nvCxnSpPr>
        <p:spPr>
          <a:xfrm rot="5400000">
            <a:off x="-1737091" y="2693815"/>
            <a:ext cx="481831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9B34F679-6C24-F442-58D8-21227734C6E6}"/>
              </a:ext>
            </a:extLst>
          </p:cNvPr>
          <p:cNvSpPr/>
          <p:nvPr/>
        </p:nvSpPr>
        <p:spPr>
          <a:xfrm rot="5400000">
            <a:off x="3395166" y="-1071125"/>
            <a:ext cx="45719" cy="4965105"/>
          </a:xfrm>
          <a:prstGeom prst="roundRect">
            <a:avLst>
              <a:gd name="adj" fmla="val 0"/>
            </a:avLst>
          </a:prstGeom>
          <a:solidFill>
            <a:srgbClr val="D43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lide Number Placeholder 2">
            <a:extLst>
              <a:ext uri="{FF2B5EF4-FFF2-40B4-BE49-F238E27FC236}">
                <a16:creationId xmlns:a16="http://schemas.microsoft.com/office/drawing/2014/main" id="{5B7242C0-C811-4138-9C9F-F20F31962BD3}"/>
              </a:ext>
            </a:extLst>
          </p:cNvPr>
          <p:cNvSpPr>
            <a:spLocks noGrp="1"/>
          </p:cNvSpPr>
          <p:nvPr>
            <p:ph type="sldNum" sz="quarter" idx="12"/>
          </p:nvPr>
        </p:nvSpPr>
        <p:spPr/>
        <p:txBody>
          <a:bodyPr/>
          <a:lstStyle/>
          <a:p>
            <a:fld id="{9C902771-8627-4730-8F5A-2C051D1E05D5}" type="slidenum">
              <a:rPr lang="en-IN" smtClean="0"/>
              <a:t>10</a:t>
            </a:fld>
            <a:endParaRPr lang="en-IN"/>
          </a:p>
        </p:txBody>
      </p:sp>
    </p:spTree>
    <p:extLst>
      <p:ext uri="{BB962C8B-B14F-4D97-AF65-F5344CB8AC3E}">
        <p14:creationId xmlns:p14="http://schemas.microsoft.com/office/powerpoint/2010/main" val="9311852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80621-9041-A4BD-95EA-116C1524B0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A92587-10EA-B4AE-8AD5-40A000BD3A12}"/>
              </a:ext>
            </a:extLst>
          </p:cNvPr>
          <p:cNvSpPr>
            <a:spLocks noGrp="1"/>
          </p:cNvSpPr>
          <p:nvPr>
            <p:ph type="title"/>
          </p:nvPr>
        </p:nvSpPr>
        <p:spPr>
          <a:xfrm>
            <a:off x="838200" y="546847"/>
            <a:ext cx="10515600" cy="1143841"/>
          </a:xfrm>
        </p:spPr>
        <p:txBody>
          <a:bodyPr/>
          <a:lstStyle/>
          <a:p>
            <a:r>
              <a:rPr lang="en-IN" b="1" dirty="0">
                <a:latin typeface="Times New Roman" panose="02020603050405020304" pitchFamily="18" charset="0"/>
                <a:cs typeface="Times New Roman" panose="02020603050405020304" pitchFamily="18" charset="0"/>
              </a:rPr>
              <a:t>Expected Outcomes</a:t>
            </a:r>
          </a:p>
        </p:txBody>
      </p:sp>
      <p:sp>
        <p:nvSpPr>
          <p:cNvPr id="3" name="Content Placeholder 2">
            <a:extLst>
              <a:ext uri="{FF2B5EF4-FFF2-40B4-BE49-F238E27FC236}">
                <a16:creationId xmlns:a16="http://schemas.microsoft.com/office/drawing/2014/main" id="{D459557C-C9B6-FBE2-1C62-5158E407008C}"/>
              </a:ext>
            </a:extLst>
          </p:cNvPr>
          <p:cNvSpPr>
            <a:spLocks noGrp="1"/>
          </p:cNvSpPr>
          <p:nvPr>
            <p:ph idx="1"/>
          </p:nvPr>
        </p:nvSpPr>
        <p:spPr/>
        <p:txBody>
          <a:bodyPr>
            <a:normAutofit/>
          </a:bodyPr>
          <a:lstStyle/>
          <a:p>
            <a:pPr lvl="0"/>
            <a:r>
              <a:rPr lang="en-IN" b="1" dirty="0">
                <a:latin typeface="Times New Roman" panose="02020603050405020304" pitchFamily="18" charset="0"/>
                <a:cs typeface="Times New Roman" panose="02020603050405020304" pitchFamily="18" charset="0"/>
              </a:rPr>
              <a:t>PoC Outcome:</a:t>
            </a:r>
            <a:r>
              <a:rPr lang="en-IN" dirty="0">
                <a:latin typeface="Times New Roman" panose="02020603050405020304" pitchFamily="18" charset="0"/>
                <a:cs typeface="Times New Roman" panose="02020603050405020304" pitchFamily="18" charset="0"/>
              </a:rPr>
              <a:t> A working prototype of the Green Cloud system for efficient and carbon-aware personal file storage.</a:t>
            </a:r>
          </a:p>
          <a:p>
            <a:pPr lvl="0"/>
            <a:r>
              <a:rPr lang="en-IN" b="1" dirty="0">
                <a:latin typeface="Times New Roman" panose="02020603050405020304" pitchFamily="18" charset="0"/>
                <a:cs typeface="Times New Roman" panose="02020603050405020304" pitchFamily="18" charset="0"/>
              </a:rPr>
              <a:t>User Benefit:</a:t>
            </a:r>
            <a:r>
              <a:rPr lang="en-IN" dirty="0">
                <a:latin typeface="Times New Roman" panose="02020603050405020304" pitchFamily="18" charset="0"/>
                <a:cs typeface="Times New Roman" panose="02020603050405020304" pitchFamily="18" charset="0"/>
              </a:rPr>
              <a:t> Helps users manage files efficiently, reduce unnecessary storage, and understand the carbon impact of cloud storage.</a:t>
            </a:r>
          </a:p>
          <a:p>
            <a:pPr lvl="0"/>
            <a:r>
              <a:rPr lang="en-IN" b="1" dirty="0">
                <a:latin typeface="Times New Roman" panose="02020603050405020304" pitchFamily="18" charset="0"/>
                <a:cs typeface="Times New Roman" panose="02020603050405020304" pitchFamily="18" charset="0"/>
              </a:rPr>
              <a:t>Social Benefit:</a:t>
            </a:r>
            <a:r>
              <a:rPr lang="en-IN" dirty="0">
                <a:latin typeface="Times New Roman" panose="02020603050405020304" pitchFamily="18" charset="0"/>
                <a:cs typeface="Times New Roman" panose="02020603050405020304" pitchFamily="18" charset="0"/>
              </a:rPr>
              <a:t> Encourages environmentally responsible use of cloud computing and promotes awareness about digital carbon footprints.</a:t>
            </a:r>
          </a:p>
          <a:p>
            <a:pPr lvl="0"/>
            <a:r>
              <a:rPr lang="en-IN" b="1" dirty="0">
                <a:latin typeface="Times New Roman" panose="02020603050405020304" pitchFamily="18" charset="0"/>
                <a:cs typeface="Times New Roman" panose="02020603050405020304" pitchFamily="18" charset="0"/>
              </a:rPr>
              <a:t>Future Potential:</a:t>
            </a:r>
            <a:r>
              <a:rPr lang="en-IN" dirty="0">
                <a:latin typeface="Times New Roman" panose="02020603050405020304" pitchFamily="18" charset="0"/>
                <a:cs typeface="Times New Roman" panose="02020603050405020304" pitchFamily="18" charset="0"/>
              </a:rPr>
              <a:t> Can be scaled to support more users, larger cloud storage systems, and advanced carbon-aware storage management.</a:t>
            </a:r>
          </a:p>
          <a:p>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4C7FF2E-E032-F418-9D1E-4E6F25D5F8AC}"/>
              </a:ext>
            </a:extLst>
          </p:cNvPr>
          <p:cNvSpPr>
            <a:spLocks noGrp="1"/>
          </p:cNvSpPr>
          <p:nvPr>
            <p:ph type="dt" sz="half" idx="10"/>
          </p:nvPr>
        </p:nvSpPr>
        <p:spPr/>
        <p:txBody>
          <a:bodyPr/>
          <a:lstStyle/>
          <a:p>
            <a:fld id="{44D234E2-9B29-4910-8893-9D059623A878}" type="datetime1">
              <a:rPr lang="en-IN" smtClean="0"/>
              <a:t>30-09-2026</a:t>
            </a:fld>
            <a:endParaRPr lang="en-IN"/>
          </a:p>
        </p:txBody>
      </p:sp>
      <p:sp>
        <p:nvSpPr>
          <p:cNvPr id="5" name="Footer Placeholder 4">
            <a:extLst>
              <a:ext uri="{FF2B5EF4-FFF2-40B4-BE49-F238E27FC236}">
                <a16:creationId xmlns:a16="http://schemas.microsoft.com/office/drawing/2014/main" id="{CC04DE24-9EE7-7DB6-E2C1-66E5B8AD4D6D}"/>
              </a:ext>
            </a:extLst>
          </p:cNvPr>
          <p:cNvSpPr>
            <a:spLocks noGrp="1"/>
          </p:cNvSpPr>
          <p:nvPr>
            <p:ph type="ftr" sz="quarter" idx="11"/>
          </p:nvPr>
        </p:nvSpPr>
        <p:spPr/>
        <p:txBody>
          <a:bodyPr/>
          <a:lstStyle/>
          <a:p>
            <a:r>
              <a:rPr lang="en-IN"/>
              <a:t>IDEA Day Presentation (2025-26)</a:t>
            </a:r>
          </a:p>
        </p:txBody>
      </p:sp>
      <p:cxnSp>
        <p:nvCxnSpPr>
          <p:cNvPr id="9" name="Straight Connector 8">
            <a:extLst>
              <a:ext uri="{FF2B5EF4-FFF2-40B4-BE49-F238E27FC236}">
                <a16:creationId xmlns:a16="http://schemas.microsoft.com/office/drawing/2014/main" id="{CA81471D-39A1-AC4D-B49B-3881631EBF4E}"/>
              </a:ext>
            </a:extLst>
          </p:cNvPr>
          <p:cNvCxnSpPr>
            <a:cxnSpLocks/>
          </p:cNvCxnSpPr>
          <p:nvPr/>
        </p:nvCxnSpPr>
        <p:spPr>
          <a:xfrm rot="5400000">
            <a:off x="-1737091" y="2693815"/>
            <a:ext cx="481831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595556AF-9304-B6F5-AE82-4FF66F5726B2}"/>
              </a:ext>
            </a:extLst>
          </p:cNvPr>
          <p:cNvSpPr/>
          <p:nvPr/>
        </p:nvSpPr>
        <p:spPr>
          <a:xfrm rot="5400000">
            <a:off x="3395166" y="-1071125"/>
            <a:ext cx="45719" cy="4965105"/>
          </a:xfrm>
          <a:prstGeom prst="roundRect">
            <a:avLst>
              <a:gd name="adj" fmla="val 0"/>
            </a:avLst>
          </a:prstGeom>
          <a:solidFill>
            <a:srgbClr val="D43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Slide Number Placeholder 5">
            <a:extLst>
              <a:ext uri="{FF2B5EF4-FFF2-40B4-BE49-F238E27FC236}">
                <a16:creationId xmlns:a16="http://schemas.microsoft.com/office/drawing/2014/main" id="{06D557B2-9A8C-47FC-83B3-489AFC065E2C}"/>
              </a:ext>
            </a:extLst>
          </p:cNvPr>
          <p:cNvSpPr>
            <a:spLocks noGrp="1"/>
          </p:cNvSpPr>
          <p:nvPr>
            <p:ph type="sldNum" sz="quarter" idx="12"/>
          </p:nvPr>
        </p:nvSpPr>
        <p:spPr/>
        <p:txBody>
          <a:bodyPr/>
          <a:lstStyle/>
          <a:p>
            <a:fld id="{9C902771-8627-4730-8F5A-2C051D1E05D5}" type="slidenum">
              <a:rPr lang="en-IN" smtClean="0"/>
              <a:t>11</a:t>
            </a:fld>
            <a:endParaRPr lang="en-IN"/>
          </a:p>
        </p:txBody>
      </p:sp>
    </p:spTree>
    <p:extLst>
      <p:ext uri="{BB962C8B-B14F-4D97-AF65-F5344CB8AC3E}">
        <p14:creationId xmlns:p14="http://schemas.microsoft.com/office/powerpoint/2010/main" val="3051047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26BD9-4ADD-04CE-DB56-8368FE6770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AE2DCC-93D8-E5BF-2326-E31C8EF0FDA7}"/>
              </a:ext>
            </a:extLst>
          </p:cNvPr>
          <p:cNvSpPr>
            <a:spLocks noGrp="1"/>
          </p:cNvSpPr>
          <p:nvPr>
            <p:ph type="title"/>
          </p:nvPr>
        </p:nvSpPr>
        <p:spPr>
          <a:xfrm>
            <a:off x="838200" y="546847"/>
            <a:ext cx="10515600" cy="1143841"/>
          </a:xfrm>
        </p:spPr>
        <p:txBody>
          <a:bodyPr/>
          <a:lstStyle/>
          <a:p>
            <a:r>
              <a:rPr lang="en-IN"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17138AE7-DA18-73E9-B5C6-B542B75E5C80}"/>
              </a:ext>
            </a:extLst>
          </p:cNvPr>
          <p:cNvSpPr>
            <a:spLocks noGrp="1"/>
          </p:cNvSpPr>
          <p:nvPr>
            <p:ph idx="1"/>
          </p:nvPr>
        </p:nvSpPr>
        <p:spPr/>
        <p:txBody>
          <a:bodyPr/>
          <a:lstStyle/>
          <a:p>
            <a:pPr lvl="0"/>
            <a:r>
              <a:rPr lang="en-IN" b="1" dirty="0">
                <a:latin typeface="Times New Roman" panose="02020603050405020304" pitchFamily="18" charset="0"/>
                <a:cs typeface="Times New Roman" panose="02020603050405020304" pitchFamily="18" charset="0"/>
              </a:rPr>
              <a:t>Innovation:</a:t>
            </a:r>
            <a:r>
              <a:rPr lang="en-IN" dirty="0">
                <a:latin typeface="Times New Roman" panose="02020603050405020304" pitchFamily="18" charset="0"/>
                <a:cs typeface="Times New Roman" panose="02020603050405020304" pitchFamily="18" charset="0"/>
              </a:rPr>
              <a:t> Green Cloud provides a carbon-aware personal storage system that combines efficient file management with environmental awareness.</a:t>
            </a:r>
          </a:p>
          <a:p>
            <a:pPr lvl="0"/>
            <a:r>
              <a:rPr lang="en-IN" b="1" dirty="0">
                <a:latin typeface="Times New Roman" panose="02020603050405020304" pitchFamily="18" charset="0"/>
                <a:cs typeface="Times New Roman" panose="02020603050405020304" pitchFamily="18" charset="0"/>
              </a:rPr>
              <a:t>Funding:</a:t>
            </a:r>
            <a:r>
              <a:rPr lang="en-IN" dirty="0">
                <a:latin typeface="Times New Roman" panose="02020603050405020304" pitchFamily="18" charset="0"/>
                <a:cs typeface="Times New Roman" panose="02020603050405020304" pitchFamily="18" charset="0"/>
              </a:rPr>
              <a:t> Funding will support cloud infrastructure, development, testing, and future improvements to make the system more efficient and scalable.</a:t>
            </a:r>
          </a:p>
          <a:p>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5D8078AC-B36F-41F3-A59E-CA7EF12E1076}"/>
              </a:ext>
            </a:extLst>
          </p:cNvPr>
          <p:cNvSpPr>
            <a:spLocks noGrp="1"/>
          </p:cNvSpPr>
          <p:nvPr>
            <p:ph type="dt" sz="half" idx="10"/>
          </p:nvPr>
        </p:nvSpPr>
        <p:spPr/>
        <p:txBody>
          <a:bodyPr/>
          <a:lstStyle/>
          <a:p>
            <a:fld id="{8DE9F949-8815-4DC1-8AD7-25568AE9E19D}" type="datetime1">
              <a:rPr lang="en-IN" smtClean="0"/>
              <a:t>30-09-2026</a:t>
            </a:fld>
            <a:endParaRPr lang="en-IN"/>
          </a:p>
        </p:txBody>
      </p:sp>
      <p:sp>
        <p:nvSpPr>
          <p:cNvPr id="5" name="Footer Placeholder 4">
            <a:extLst>
              <a:ext uri="{FF2B5EF4-FFF2-40B4-BE49-F238E27FC236}">
                <a16:creationId xmlns:a16="http://schemas.microsoft.com/office/drawing/2014/main" id="{DCC660C5-97BA-6447-0E3A-2E3B619CED41}"/>
              </a:ext>
            </a:extLst>
          </p:cNvPr>
          <p:cNvSpPr>
            <a:spLocks noGrp="1"/>
          </p:cNvSpPr>
          <p:nvPr>
            <p:ph type="ftr" sz="quarter" idx="11"/>
          </p:nvPr>
        </p:nvSpPr>
        <p:spPr/>
        <p:txBody>
          <a:bodyPr/>
          <a:lstStyle/>
          <a:p>
            <a:r>
              <a:rPr lang="en-IN"/>
              <a:t>IDEA Day Presentation (2025-26)</a:t>
            </a:r>
          </a:p>
        </p:txBody>
      </p:sp>
      <p:cxnSp>
        <p:nvCxnSpPr>
          <p:cNvPr id="9" name="Straight Connector 8">
            <a:extLst>
              <a:ext uri="{FF2B5EF4-FFF2-40B4-BE49-F238E27FC236}">
                <a16:creationId xmlns:a16="http://schemas.microsoft.com/office/drawing/2014/main" id="{A24CBDA2-F320-EB84-90F7-D7BF8B1BF555}"/>
              </a:ext>
            </a:extLst>
          </p:cNvPr>
          <p:cNvCxnSpPr>
            <a:cxnSpLocks/>
          </p:cNvCxnSpPr>
          <p:nvPr/>
        </p:nvCxnSpPr>
        <p:spPr>
          <a:xfrm rot="5400000">
            <a:off x="-1737091" y="2693815"/>
            <a:ext cx="481831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8D3B8661-63CD-2EC6-F0FA-268DD4F3A5B9}"/>
              </a:ext>
            </a:extLst>
          </p:cNvPr>
          <p:cNvSpPr/>
          <p:nvPr/>
        </p:nvSpPr>
        <p:spPr>
          <a:xfrm rot="5400000">
            <a:off x="3395166" y="-1071125"/>
            <a:ext cx="45719" cy="4965105"/>
          </a:xfrm>
          <a:prstGeom prst="roundRect">
            <a:avLst>
              <a:gd name="adj" fmla="val 0"/>
            </a:avLst>
          </a:prstGeom>
          <a:solidFill>
            <a:srgbClr val="D43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Slide Number Placeholder 5">
            <a:extLst>
              <a:ext uri="{FF2B5EF4-FFF2-40B4-BE49-F238E27FC236}">
                <a16:creationId xmlns:a16="http://schemas.microsoft.com/office/drawing/2014/main" id="{4C24AC30-5AAC-47F9-BE34-7E377B5A3C94}"/>
              </a:ext>
            </a:extLst>
          </p:cNvPr>
          <p:cNvSpPr>
            <a:spLocks noGrp="1"/>
          </p:cNvSpPr>
          <p:nvPr>
            <p:ph type="sldNum" sz="quarter" idx="12"/>
          </p:nvPr>
        </p:nvSpPr>
        <p:spPr/>
        <p:txBody>
          <a:bodyPr/>
          <a:lstStyle/>
          <a:p>
            <a:fld id="{9C902771-8627-4730-8F5A-2C051D1E05D5}" type="slidenum">
              <a:rPr lang="en-IN" smtClean="0"/>
              <a:t>12</a:t>
            </a:fld>
            <a:endParaRPr lang="en-IN"/>
          </a:p>
        </p:txBody>
      </p:sp>
    </p:spTree>
    <p:extLst>
      <p:ext uri="{BB962C8B-B14F-4D97-AF65-F5344CB8AC3E}">
        <p14:creationId xmlns:p14="http://schemas.microsoft.com/office/powerpoint/2010/main" val="4709285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61309-C452-0DB5-8BC2-A3B82B5D71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00513A-9637-9E20-61CD-CB28561F9FBD}"/>
              </a:ext>
            </a:extLst>
          </p:cNvPr>
          <p:cNvSpPr>
            <a:spLocks noGrp="1"/>
          </p:cNvSpPr>
          <p:nvPr>
            <p:ph type="title"/>
          </p:nvPr>
        </p:nvSpPr>
        <p:spPr>
          <a:xfrm>
            <a:off x="4168589" y="2483223"/>
            <a:ext cx="4630271" cy="1143841"/>
          </a:xfrm>
        </p:spPr>
        <p:txBody>
          <a:bodyPr/>
          <a:lstStyle/>
          <a:p>
            <a:r>
              <a:rPr lang="en-IN" b="1" dirty="0">
                <a:latin typeface="Times New Roman" panose="02020603050405020304" pitchFamily="18" charset="0"/>
                <a:cs typeface="Times New Roman" panose="02020603050405020304" pitchFamily="18" charset="0"/>
              </a:rPr>
              <a:t>Thank You </a:t>
            </a:r>
          </a:p>
        </p:txBody>
      </p:sp>
      <p:sp>
        <p:nvSpPr>
          <p:cNvPr id="4" name="Date Placeholder 3">
            <a:extLst>
              <a:ext uri="{FF2B5EF4-FFF2-40B4-BE49-F238E27FC236}">
                <a16:creationId xmlns:a16="http://schemas.microsoft.com/office/drawing/2014/main" id="{DD0947B9-6CF6-5ECE-BDF2-5806F095E472}"/>
              </a:ext>
            </a:extLst>
          </p:cNvPr>
          <p:cNvSpPr>
            <a:spLocks noGrp="1"/>
          </p:cNvSpPr>
          <p:nvPr>
            <p:ph type="dt" sz="half" idx="10"/>
          </p:nvPr>
        </p:nvSpPr>
        <p:spPr/>
        <p:txBody>
          <a:bodyPr/>
          <a:lstStyle/>
          <a:p>
            <a:fld id="{86B19E62-D616-4ED0-A24E-7071D92FCE33}" type="datetime1">
              <a:rPr lang="en-IN" smtClean="0"/>
              <a:t>30-09-2026</a:t>
            </a:fld>
            <a:endParaRPr lang="en-IN"/>
          </a:p>
        </p:txBody>
      </p:sp>
      <p:sp>
        <p:nvSpPr>
          <p:cNvPr id="5" name="Footer Placeholder 4">
            <a:extLst>
              <a:ext uri="{FF2B5EF4-FFF2-40B4-BE49-F238E27FC236}">
                <a16:creationId xmlns:a16="http://schemas.microsoft.com/office/drawing/2014/main" id="{9F36B223-D0D0-C571-5EAE-D9C8EE435B05}"/>
              </a:ext>
            </a:extLst>
          </p:cNvPr>
          <p:cNvSpPr>
            <a:spLocks noGrp="1"/>
          </p:cNvSpPr>
          <p:nvPr>
            <p:ph type="ftr" sz="quarter" idx="11"/>
          </p:nvPr>
        </p:nvSpPr>
        <p:spPr/>
        <p:txBody>
          <a:bodyPr/>
          <a:lstStyle/>
          <a:p>
            <a:r>
              <a:rPr lang="en-IN"/>
              <a:t>IDEA Day Presentation (2025-26)</a:t>
            </a:r>
          </a:p>
        </p:txBody>
      </p:sp>
      <p:cxnSp>
        <p:nvCxnSpPr>
          <p:cNvPr id="9" name="Straight Connector 8">
            <a:extLst>
              <a:ext uri="{FF2B5EF4-FFF2-40B4-BE49-F238E27FC236}">
                <a16:creationId xmlns:a16="http://schemas.microsoft.com/office/drawing/2014/main" id="{40B07ED8-E97C-A67F-577E-9B457991DDBA}"/>
              </a:ext>
            </a:extLst>
          </p:cNvPr>
          <p:cNvCxnSpPr>
            <a:cxnSpLocks/>
          </p:cNvCxnSpPr>
          <p:nvPr/>
        </p:nvCxnSpPr>
        <p:spPr>
          <a:xfrm rot="5400000">
            <a:off x="-1737091" y="2693815"/>
            <a:ext cx="481831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603C5BAD-5157-BC89-A6E9-0D4489E073EF}"/>
              </a:ext>
            </a:extLst>
          </p:cNvPr>
          <p:cNvSpPr/>
          <p:nvPr/>
        </p:nvSpPr>
        <p:spPr>
          <a:xfrm rot="5400000" flipH="1">
            <a:off x="5536828" y="2234231"/>
            <a:ext cx="45719" cy="2435258"/>
          </a:xfrm>
          <a:prstGeom prst="roundRect">
            <a:avLst>
              <a:gd name="adj" fmla="val 0"/>
            </a:avLst>
          </a:prstGeom>
          <a:solidFill>
            <a:srgbClr val="D43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lide Number Placeholder 2">
            <a:extLst>
              <a:ext uri="{FF2B5EF4-FFF2-40B4-BE49-F238E27FC236}">
                <a16:creationId xmlns:a16="http://schemas.microsoft.com/office/drawing/2014/main" id="{8E1B0D5A-AE53-4440-827A-394C020071E1}"/>
              </a:ext>
            </a:extLst>
          </p:cNvPr>
          <p:cNvSpPr>
            <a:spLocks noGrp="1"/>
          </p:cNvSpPr>
          <p:nvPr>
            <p:ph type="sldNum" sz="quarter" idx="12"/>
          </p:nvPr>
        </p:nvSpPr>
        <p:spPr/>
        <p:txBody>
          <a:bodyPr/>
          <a:lstStyle/>
          <a:p>
            <a:fld id="{9C902771-8627-4730-8F5A-2C051D1E05D5}" type="slidenum">
              <a:rPr lang="en-IN" smtClean="0"/>
              <a:t>13</a:t>
            </a:fld>
            <a:endParaRPr lang="en-IN"/>
          </a:p>
        </p:txBody>
      </p:sp>
    </p:spTree>
    <p:extLst>
      <p:ext uri="{BB962C8B-B14F-4D97-AF65-F5344CB8AC3E}">
        <p14:creationId xmlns:p14="http://schemas.microsoft.com/office/powerpoint/2010/main" val="25151559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2">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TotalTime>
  <Words>1109</Words>
  <Application>Microsoft Office PowerPoint</Application>
  <PresentationFormat>Widescreen</PresentationFormat>
  <Paragraphs>128</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Calibri</vt:lpstr>
      <vt:lpstr>Times New Roman</vt:lpstr>
      <vt:lpstr>Office Theme</vt:lpstr>
      <vt:lpstr>GreenCloud A Carbon-Aware Personal Storage System</vt:lpstr>
      <vt:lpstr>Problem Statement</vt:lpstr>
      <vt:lpstr>Importance &amp; Relevance</vt:lpstr>
      <vt:lpstr>Proposed Solution</vt:lpstr>
      <vt:lpstr>Key Features &amp; Uniqueness</vt:lpstr>
      <vt:lpstr>Secondary Research</vt:lpstr>
      <vt:lpstr>PoC Development Plan</vt:lpstr>
      <vt:lpstr>Risk Analysis &amp; Challenges</vt:lpstr>
      <vt:lpstr>Technology Stack</vt:lpstr>
      <vt:lpstr>List of Mentors</vt:lpstr>
      <vt:lpstr>Expected Outcomes</vt:lpstr>
      <vt:lpstr>Conclusion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Idea/ Innovation</dc:title>
  <dc:creator>SURESH MODALAVALASA</dc:creator>
  <cp:lastModifiedBy>chinna rao sadi</cp:lastModifiedBy>
  <cp:revision>7</cp:revision>
  <dcterms:created xsi:type="dcterms:W3CDTF">2025-09-07T05:27:41Z</dcterms:created>
  <dcterms:modified xsi:type="dcterms:W3CDTF">2026-09-30T10:32:00Z</dcterms:modified>
</cp:coreProperties>
</file>